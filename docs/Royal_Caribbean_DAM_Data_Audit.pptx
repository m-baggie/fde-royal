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914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960C"/>
                </a:solidFill>
              </a:rPr>
              <a:t>Royal Caribbean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DAM Asset Data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BDD"/>
                </a:solidFill>
              </a:rPr>
              <a:t>Current State of Digital Asset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99"/>
                </a:solidFill>
              </a:rPr>
              <a:t>AEM DAM Export  ·  49 Assets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Asset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49 assets across 6 folders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74320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Folder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508760"/>
            <a:ext cx="68580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554480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508760"/>
            <a:ext cx="822960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1554480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19656"/>
            <a:ext cx="27432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6537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ships/allure/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819656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1865376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19656"/>
            <a:ext cx="82296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865376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Allure of the Seas — aerial, sailing, sunset, aquatheater, Naples, Galveston variants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30552"/>
            <a:ext cx="2743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17627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promotions/star-and-icon/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130552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176272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130552"/>
            <a:ext cx="8229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2776" y="2176272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Star &amp; Icon campaign — multiple size/format variants of the same creative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41448"/>
            <a:ext cx="27432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4871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promotions/asia/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441448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2487168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441448"/>
            <a:ext cx="82296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22776" y="2487168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Asia destinations — Singapore, Hong Kong, Kuala Lumpur, Phuket, Dubai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52344"/>
            <a:ext cx="2743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798063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ships/anthem/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2752344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2798063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752344"/>
            <a:ext cx="8229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2776" y="2798063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Anthem of the Seas — aerial, New York, Norway, bumper-cars activity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063240"/>
            <a:ext cx="27432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310896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promotions/casino/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3063240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3108960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063240"/>
            <a:ext cx="82296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2776" y="3108960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Bankroll Blitz 2019 — desktop banner, mobile banner, background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74136"/>
            <a:ext cx="2743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341985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ships/grandeur/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374136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3419856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374136"/>
            <a:ext cx="8229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22776" y="3419856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Grandeur of the Seas — aerial close-up, sailing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685032"/>
            <a:ext cx="27432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73075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TOTAL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3685032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6976" y="3730752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685032"/>
            <a:ext cx="82296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2776" y="3730752"/>
            <a:ext cx="8119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All image assets (JPEG + 1 PNG)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Each asset is stored in AEM JCR format: a folder containing .content.xml metadata + pre-generated thumbnail (319px) and web (1280px) renditions.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Metadata 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How many of 49 assets have each field populated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819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CDN / Scene7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00200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600200"/>
            <a:ext cx="6949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15819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49/49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File dimensions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02536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02536"/>
            <a:ext cx="6665789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19842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47/49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865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dc:title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404872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404872"/>
            <a:ext cx="4538409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0" y="238658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32/49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78892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dc:description (unique)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807208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807208"/>
            <a:ext cx="2836506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0" y="27889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20/49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1912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dc:creator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209544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209544"/>
            <a:ext cx="3120156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0" y="319125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22/49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5935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Any rights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611880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611880"/>
            <a:ext cx="3120156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0" y="359359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22/49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959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LocationShown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14215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014215"/>
            <a:ext cx="2552855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0" y="399592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18/49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xmpRights:UsageTerms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416552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416552"/>
            <a:ext cx="141825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12880" y="43982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1/49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8006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cq:tags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818888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4818888"/>
            <a:ext cx="141825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12880" y="480060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1/49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2029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Channel / placement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5221223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12880" y="520293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0/49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6052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Campaign / audience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5623560"/>
            <a:ext cx="6949440" cy="21945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12880" y="56052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0/49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989320"/>
            <a:ext cx="11457432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53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⚠  16 assets have ZERO descriptive metadata — no title, description, creator, rights, location, or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Creator Field — 9 Values for the Same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dc:creator  ·  22 of 49 assets populated  ·  no consistent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65176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Value in DAM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508760"/>
            <a:ext cx="68580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554480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08760"/>
            <a:ext cx="832104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1554480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19656"/>
            <a:ext cx="2651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65376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[Royal Carribean]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819656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1865376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819656"/>
            <a:ext cx="83210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5" y="1865376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⚠  Misspelling — 'Carribean' instead of 'Caribbean'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30552"/>
            <a:ext cx="2651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176272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Brand Team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130552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176272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130552"/>
            <a:ext cx="8321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1335" y="2176272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⚠  Trailing whitespace — breaks exact-match filtering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41448"/>
            <a:ext cx="2651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487168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[Brand Team]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441448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487168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2441448"/>
            <a:ext cx="83210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31335" y="2487168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Bracket format — same team, different representation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52344"/>
            <a:ext cx="2651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798063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Brand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2752344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2798063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752344"/>
            <a:ext cx="8321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31335" y="2798063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Plain format — same team, third representation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063240"/>
            <a:ext cx="2651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3108960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Social Media Influencer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3063240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3108960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063240"/>
            <a:ext cx="83210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31335" y="3108960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Vague — not a name, team, or identifiable entity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74136"/>
            <a:ext cx="2651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3419856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CAP Ambassador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3374136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3419856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3374136"/>
            <a:ext cx="8321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31335" y="3419856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Vague — unexplained acronym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685032"/>
            <a:ext cx="2651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730752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GTM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63240" y="3685032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45536" y="3730752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3685032"/>
            <a:ext cx="83210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31335" y="3730752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Unexplained acronym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995928"/>
            <a:ext cx="2651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" y="4041648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[Production Team 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3995928"/>
            <a:ext cx="685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45536" y="4041648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3995928"/>
            <a:ext cx="8321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31335" y="4041648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Trailing space inside brackets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306824"/>
            <a:ext cx="2651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" y="4352544"/>
            <a:ext cx="2542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[Michel Verdure]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63240" y="4306824"/>
            <a:ext cx="6858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45536" y="4352544"/>
            <a:ext cx="576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49039" y="4306824"/>
            <a:ext cx="83210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31335" y="4352544"/>
            <a:ext cx="8211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Photographer name — inconsistent with team entries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989320"/>
            <a:ext cx="11457432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0533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7E22"/>
                </a:solidFill>
              </a:rPr>
              <a:t>27 assets have no creator at all. Filtering or reporting by creator is unreliable without normalization.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Rights — No Single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Split across two fields · neither complete nor consistent · 27 assets have nothing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2926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1B6B"/>
                </a:solidFill>
              </a:rPr>
              <a:t>xmpRights:Owner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"Royal Caribbean"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933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"Royal Caribbean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7E22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</a:rPr>
              <a:t>⚠ trailing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"(not set)"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127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</a:rPr>
              <a:t>⚠ missing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577840" cy="2926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72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1B6B"/>
                </a:solidFill>
              </a:rPr>
              <a:t>dc:rights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"Royal Owned"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993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"Royal Carribean"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7E22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560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</a:rPr>
              <a:t>⚠ misspelling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127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"(not set)"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127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127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</a:rPr>
              <a:t>⚠ missing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72000"/>
            <a:ext cx="5394960" cy="11887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36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UsageTerms — 1 of 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1947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Only bumper-cars has usage terms:
'Not to be reproduced without written permission'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5577840" cy="1188720"/>
          </a:xfrm>
          <a:prstGeom prst="rect">
            <a:avLst/>
          </a:prstGeom>
          <a:solidFill>
            <a:srgbClr val="FF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6360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27 assets — no rights data at 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1947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No xmpRights:Owner, no dc:rights, no UsageTerms.
Content authors have no basis for rights verification on these assets.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Additional Quality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16276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Release Placeholders (7 assets)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11095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ModelReleaseStatus, PropertyReleaseStatus, DigitalSourceType, and MinorModelAgeDisclosure
all set to "Selecione um Estado..." (Portuguese UI placeholder — never filled in).
Affects images showing identifiable people. Compliance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64008" cy="16276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No Channel or Placement Metadata (0 / 49)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11095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'Hero', 'banner', 'mobile', 'desktop' appear only in filenames — never in metadata.
No structured field exists for intended use, placement, or channel.
Content authors must guess format from the filename.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27832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27832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92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Scene7 Sync Failures (6 assets)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85031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All 5 Asia promo assets + 1 Allure sunset show lastS7SyncStatus: failed
despite scene7FileStatus: PublishComplete. Could cause silent broken CDN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27832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27832"/>
            <a:ext cx="64008" cy="16276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192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Duplicate Files (2 pairs)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630168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85031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Two pairs of Galveston/Allure assets have identical byte sizes.
Likely the same image under different filenames with no metadata to distinguish.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46904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46904"/>
            <a:ext cx="64008" cy="162763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383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Filename Problems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04104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Spaces in names (BankrollBlitz_Desktop .jpg), mixed case extensions (.JPG vs .jpg),
and dimension-only names (1040x520 op2 CTA_2x.jpg) with no content label.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946904"/>
            <a:ext cx="5760720" cy="16276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946904"/>
            <a:ext cx="64008" cy="162763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0383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Title = Description (13 assets)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349240"/>
            <a:ext cx="539496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404104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dc:description was copy-pasted from dc:title on 13 assets.
The description field provides no additional context on these assets.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Reliable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Fields that can be trusted for immediate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01752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08760"/>
            <a:ext cx="105156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554480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58952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54480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19656"/>
            <a:ext cx="3017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65376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Scene7 CDN 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19656"/>
            <a:ext cx="10515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865376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819656"/>
            <a:ext cx="7589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865376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Constructable from dam:scene7File + dam:scene7Domain for all assets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30552"/>
            <a:ext cx="3017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176272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Thumbnails on disk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130552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176272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130552"/>
            <a:ext cx="7589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2176272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319×319 PNG renditions present for every asset — ready to 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41448"/>
            <a:ext cx="3017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487168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Web images on disk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441448"/>
            <a:ext cx="10515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2487168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48 / 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441448"/>
            <a:ext cx="7589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2487168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1280px JPEG renditions available for 48 assets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52344"/>
            <a:ext cx="3017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798063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File dimensions (px)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2752344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2798063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47 / 49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752344"/>
            <a:ext cx="7589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2856" y="2798063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tiff:ImageWidth / tiff:ImageLength — reliable where present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063240"/>
            <a:ext cx="3017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310896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File size (bytes)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3063240"/>
            <a:ext cx="10515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3108960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063240"/>
            <a:ext cx="7589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3108960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dam:size on all assets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74136"/>
            <a:ext cx="3017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3419856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File format / MIME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3374136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3419856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374136"/>
            <a:ext cx="7589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6" y="3419856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dam:Fileformat, dam:MIMEtype on all assets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685032"/>
            <a:ext cx="3017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730752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DAM folder path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29000" y="3685032"/>
            <a:ext cx="10515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1296" y="3730752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685032"/>
            <a:ext cx="7589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62856" y="3730752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cq:parentPath — directly informs ship / promo category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995928"/>
            <a:ext cx="3017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" y="4041648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Last replicated 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29000" y="3995928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11296" y="4041648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49 / 49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995928"/>
            <a:ext cx="7589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62856" y="4041648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Range: March 2024 → July 2025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306824"/>
            <a:ext cx="3017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" y="4352544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dc:title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9000" y="4306824"/>
            <a:ext cx="10515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11296" y="4352544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32 / 49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4306824"/>
            <a:ext cx="758952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62856" y="4352544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Present on 32 but 13 are copies of description — partial trust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617720"/>
            <a:ext cx="3017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3776" y="466344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LocationShown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29000" y="4617720"/>
            <a:ext cx="1051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11296" y="4663440"/>
            <a:ext cx="94183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18 / 49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4617720"/>
            <a:ext cx="7589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62856" y="4663440"/>
            <a:ext cx="7479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Values appear accurate where present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Folder path and filename carry implicit meaning (ship name, campaign, format hints) even when metadata fields are empty — good signal for enrichment.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GenAI Enrichment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Every metadata gap maps to a solvable enrichment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29184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508760"/>
            <a:ext cx="457200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554480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Enrichment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508760"/>
            <a:ext cx="3794760" cy="310896"/>
          </a:xfrm>
          <a:prstGeom prst="rect">
            <a:avLst/>
          </a:prstGeom>
          <a:solidFill>
            <a:srgbClr val="001B6B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554480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19656"/>
            <a:ext cx="32918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65376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Missing / duplicate title &amp; 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819656"/>
            <a:ext cx="45720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1865376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Vision model describes image content in plain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819656"/>
            <a:ext cx="3794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65376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dc:title, dc:description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30552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176272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No subject tags (48 / 49 missing)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130552"/>
            <a:ext cx="4572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176272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Vision model generates subject, mood, scene, content tags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130552"/>
            <a:ext cx="3794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176272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cq:tags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41448"/>
            <a:ext cx="32918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487168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Missing location (31 / 49)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441448"/>
            <a:ext cx="45720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2487168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Infer from folder path + visual content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441448"/>
            <a:ext cx="3794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487168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Iptc4xmpExt:LocationShown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52344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798063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No channel / format 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2752344"/>
            <a:ext cx="4572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2798063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Parse filename + classify by pixel dimensions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752344"/>
            <a:ext cx="3794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2798063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New: channel, format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063240"/>
            <a:ext cx="32918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3108960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Creator normalization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3063240"/>
            <a:ext cx="45720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3108960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Standardize 9 variants to canonical values via LLM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3063240"/>
            <a:ext cx="3794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3108960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dc:creator (clean)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74136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3419856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Rights inconsistency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03320" y="3374136"/>
            <a:ext cx="4572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3419856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Reconcile xmpRights:Owner + dc:rights, flag typos/conflicts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3374136"/>
            <a:ext cx="3794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6" y="3419856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Unified rights status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685032"/>
            <a:ext cx="329184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3730752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Release placeholders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3685032"/>
            <a:ext cx="457200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5615" y="3730752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Detect 'Selecione' strings, route to human review queue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85032"/>
            <a:ext cx="3794760" cy="310896"/>
          </a:xfrm>
          <a:prstGeom prst="rect">
            <a:avLst/>
          </a:prstGeom>
          <a:solidFill>
            <a:srgbClr val="F2F4F8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6" y="3730752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Rights review flag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995928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" y="4041648"/>
            <a:ext cx="3182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No campaign / audience fields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03320" y="3995928"/>
            <a:ext cx="4572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85615" y="4041648"/>
            <a:ext cx="44622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Infer from folder context + visual content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3995928"/>
            <a:ext cx="37947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4041648"/>
            <a:ext cx="368503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New: campaign, audience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The case for intelligent metadata enrichment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194560" cy="1005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6362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1B6B"/>
                </a:solidFill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93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Total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508760"/>
            <a:ext cx="2194560" cy="1005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56362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93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Zero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2194560" cy="1005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6362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093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No rights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508760"/>
            <a:ext cx="2194560" cy="1005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56362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67E22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093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Creator variants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508760"/>
            <a:ext cx="2194560" cy="1005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56362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093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Assets with 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11457432" cy="457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7889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1B6B"/>
                </a:solidFill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004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0040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The data is in the DAM — but it's not findable. Half the assets lack a title; almost none have tags or location.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675887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675887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Rights data exists in two competing fields, neither complete, with typos and trailing spaces that break automated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15137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51376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Channel and placement context (hero, banner, mobile) lives only in filenames — invisible to any metadata-driven search.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626864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2686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7 assets have Portuguese UI placeholders in compliance fields — unreviewed model/property release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10235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960C"/>
                </a:solidFill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1023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All 49 assets have thumbnails and CDN URLs ready. The display layer is solid. The metadata layer needs enrichment.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