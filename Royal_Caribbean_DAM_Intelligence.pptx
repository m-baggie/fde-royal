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410" r:id="rId4"/>
  </p:sldMasterIdLst>
  <p:notesMasterIdLst>
    <p:notesMasterId r:id="rId71"/>
  </p:notesMasterIdLst>
  <p:handoutMasterIdLst>
    <p:handoutMasterId r:id="rId72"/>
  </p:handoutMasterIdLst>
  <p:sldIdLst>
    <p:sldId id="256" r:id="rId12"/>
    <p:sldId id="257" r:id="rId13"/>
    <p:sldId id="258" r:id="rId14"/>
    <p:sldId id="259" r:id="rId15"/>
    <p:sldId id="260" r:id="rId16"/>
    <p:sldId id="261" r:id="rId17"/>
    <p:sldId id="262" r:id="rId18"/>
    <p:sldId id="263" r:id="rId19"/>
  </p:sldIdLst>
  <p:sldSz cx="12192000" cy="6858000"/>
  <p:notesSz cx="7315200" cy="96012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BAC1763D-52FA-4D99-B74A-09978868D1DF}">
          <p14:sldIdLst>
            <p14:sldId id="478"/>
            <p14:sldId id="1816"/>
            <p14:sldId id="1838"/>
            <p14:sldId id="1840"/>
            <p14:sldId id="1841"/>
            <p14:sldId id="1842"/>
            <p14:sldId id="1826"/>
            <p14:sldId id="1839"/>
            <p14:sldId id="1817"/>
            <p14:sldId id="1828"/>
            <p14:sldId id="1814"/>
            <p14:sldId id="1833"/>
            <p14:sldId id="1823"/>
            <p14:sldId id="1830"/>
            <p14:sldId id="1815"/>
            <p14:sldId id="1843"/>
            <p14:sldId id="1813"/>
            <p14:sldId id="1834"/>
          </p14:sldIdLst>
        </p14:section>
        <p14:section name="Brand basics" id="{8EE32D32-E91A-427D-B680-3FF11AABE0B8}">
          <p14:sldIdLst>
            <p14:sldId id="1808"/>
            <p14:sldId id="1798"/>
            <p14:sldId id="1809"/>
            <p14:sldId id="1799"/>
            <p14:sldId id="2147483247"/>
            <p14:sldId id="1812"/>
          </p14:sldIdLst>
        </p14:section>
        <p14:section name="Content slides" id="{49CC7682-57B2-4455-BD9B-709563297FEE}">
          <p14:sldIdLst>
            <p14:sldId id="342"/>
            <p14:sldId id="2147483249"/>
            <p14:sldId id="2147483250"/>
            <p14:sldId id="2147483251"/>
            <p14:sldId id="1824"/>
            <p14:sldId id="1835"/>
            <p14:sldId id="471"/>
            <p14:sldId id="1821"/>
            <p14:sldId id="1836"/>
            <p14:sldId id="469"/>
            <p14:sldId id="1837"/>
            <p14:sldId id="470"/>
            <p14:sldId id="472"/>
            <p14:sldId id="1811"/>
            <p14:sldId id="451"/>
            <p14:sldId id="453"/>
            <p14:sldId id="454"/>
            <p14:sldId id="455"/>
            <p14:sldId id="457"/>
            <p14:sldId id="458"/>
            <p14:sldId id="459"/>
            <p14:sldId id="460"/>
            <p14:sldId id="461"/>
            <p14:sldId id="463"/>
            <p14:sldId id="464"/>
            <p14:sldId id="366"/>
            <p14:sldId id="367"/>
            <p14:sldId id="465"/>
            <p14:sldId id="466"/>
            <p14:sldId id="467"/>
            <p14:sldId id="468"/>
            <p14:sldId id="374"/>
            <p14:sldId id="375"/>
            <p14:sldId id="376"/>
            <p14:sldId id="377"/>
            <p14:sldId id="474"/>
            <p14:sldId id="378"/>
            <p14:sldId id="379"/>
            <p14:sldId id="380"/>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6E4"/>
    <a:srgbClr val="F2F5E3"/>
    <a:srgbClr val="63666A"/>
    <a:srgbClr val="75787B"/>
    <a:srgbClr val="97999B"/>
    <a:srgbClr val="A7A8AA"/>
    <a:srgbClr val="BBBCBC"/>
    <a:srgbClr val="D0D0CE"/>
    <a:srgbClr val="007CB0"/>
    <a:srgbClr val="041E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8" autoAdjust="0"/>
    <p:restoredTop sz="92603" autoAdjust="0"/>
  </p:normalViewPr>
  <p:slideViewPr>
    <p:cSldViewPr snapToGrid="0" showGuides="1">
      <p:cViewPr varScale="1">
        <p:scale>
          <a:sx n="113" d="100"/>
          <a:sy n="113" d="100"/>
        </p:scale>
        <p:origin x="424" y="176"/>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71" Type="http://schemas.openxmlformats.org/officeDocument/2006/relationships/notesMaster" Target="notesMasters/notesMaster1.xml"/><Relationship Id="rId72" Type="http://schemas.openxmlformats.org/officeDocument/2006/relationships/handoutMaster" Target="handoutMasters/handoutMaster1.xml"/><Relationship Id="rId73" Type="http://schemas.openxmlformats.org/officeDocument/2006/relationships/tags" Target="tags/tag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2/27/26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2/27/26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13172048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031414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8789876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7263823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87420248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403831031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5104225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93947885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10554347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32688006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4877561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755133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2125570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576142479"/>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124349390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9597775"/>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843714164"/>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626210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910415647"/>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47179590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476295170"/>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7098377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37422589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11191353"/>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30367046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1782479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12974177"/>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46551886"/>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092734165"/>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5404673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18828178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325295754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78140349"/>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65149632"/>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81158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89427996"/>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16093857"/>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063055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3259165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96914466"/>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63339171"/>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3256828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13672707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35402337"/>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25764851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02867221"/>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07086694"/>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59264808"/>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825139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758844420"/>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3762140600"/>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55469370"/>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88649007"/>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086482776"/>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831862531"/>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979340831"/>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165235614"/>
      </p:ext>
    </p:extLst>
  </p:cSld>
  <p:clrMapOvr>
    <a:masterClrMapping/>
  </p:clrMapOvr>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 Id="rId59" Type="http://schemas.openxmlformats.org/officeDocument/2006/relationships/tags" Target="../tags/tag2.xml"/><Relationship Id="rId60" Type="http://schemas.openxmlformats.org/officeDocument/2006/relationships/oleObject" Target="../embeddings/oleObject1.bin"/><Relationship Id="rId6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9"/>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3617170"/>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 id="2147484422" r:id="rId12"/>
    <p:sldLayoutId id="2147484423" r:id="rId13"/>
    <p:sldLayoutId id="2147484424" r:id="rId14"/>
    <p:sldLayoutId id="2147484425" r:id="rId15"/>
    <p:sldLayoutId id="2147484426" r:id="rId16"/>
    <p:sldLayoutId id="2147484427" r:id="rId17"/>
    <p:sldLayoutId id="2147484428" r:id="rId18"/>
    <p:sldLayoutId id="2147484429" r:id="rId19"/>
    <p:sldLayoutId id="2147484430" r:id="rId20"/>
    <p:sldLayoutId id="2147484431" r:id="rId21"/>
    <p:sldLayoutId id="2147484432" r:id="rId22"/>
    <p:sldLayoutId id="2147484433" r:id="rId23"/>
    <p:sldLayoutId id="2147484434" r:id="rId24"/>
    <p:sldLayoutId id="2147484435" r:id="rId25"/>
    <p:sldLayoutId id="2147484436" r:id="rId26"/>
    <p:sldLayoutId id="2147484437" r:id="rId27"/>
    <p:sldLayoutId id="2147484438" r:id="rId28"/>
    <p:sldLayoutId id="2147484439" r:id="rId29"/>
    <p:sldLayoutId id="2147484440" r:id="rId30"/>
    <p:sldLayoutId id="2147484441" r:id="rId31"/>
    <p:sldLayoutId id="2147484442" r:id="rId32"/>
    <p:sldLayoutId id="2147484443" r:id="rId33"/>
    <p:sldLayoutId id="2147484444" r:id="rId34"/>
    <p:sldLayoutId id="2147484445" r:id="rId35"/>
    <p:sldLayoutId id="2147484446" r:id="rId36"/>
    <p:sldLayoutId id="2147484447" r:id="rId37"/>
    <p:sldLayoutId id="2147484448" r:id="rId38"/>
    <p:sldLayoutId id="2147484449" r:id="rId39"/>
    <p:sldLayoutId id="2147484450" r:id="rId40"/>
    <p:sldLayoutId id="2147484460" r:id="rId41"/>
    <p:sldLayoutId id="2147484461" r:id="rId42"/>
    <p:sldLayoutId id="2147484462" r:id="rId43"/>
    <p:sldLayoutId id="2147484463" r:id="rId44"/>
    <p:sldLayoutId id="2147484464" r:id="rId45"/>
    <p:sldLayoutId id="2147484465" r:id="rId46"/>
    <p:sldLayoutId id="2147484466" r:id="rId47"/>
    <p:sldLayoutId id="2147484467" r:id="rId48"/>
    <p:sldLayoutId id="2147484451" r:id="rId49"/>
    <p:sldLayoutId id="2147484452" r:id="rId50"/>
    <p:sldLayoutId id="2147484453" r:id="rId51"/>
    <p:sldLayoutId id="2147484454" r:id="rId52"/>
    <p:sldLayoutId id="2147484455" r:id="rId53"/>
    <p:sldLayoutId id="2147484456" r:id="rId54"/>
    <p:sldLayoutId id="2147484457" r:id="rId55"/>
    <p:sldLayoutId id="2147484458" r:id="rId56"/>
    <p:sldLayoutId id="2147484459" r:id="rId57"/>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userDrawn="1">
          <p15:clr>
            <a:srgbClr val="F26B43"/>
          </p15:clr>
        </p15:guide>
        <p15:guide id="96" orient="horz" pos="4008" userDrawn="1">
          <p15:clr>
            <a:srgbClr val="F26B43"/>
          </p15:clr>
        </p15:guide>
        <p15:guide id="97" orient="horz" pos="4104" userDrawn="1">
          <p15:clr>
            <a:srgbClr val="F26B43"/>
          </p15:clr>
        </p15:guide>
        <p15:guide id="98" orient="horz" pos="1056" userDrawn="1">
          <p15:clr>
            <a:srgbClr val="F26B43"/>
          </p15:clr>
        </p15:guide>
        <p15:guide id="99" pos="3840" userDrawn="1">
          <p15:clr>
            <a:srgbClr val="F26B43"/>
          </p15:clr>
        </p15:guide>
        <p15:guide id="100" pos="7392" userDrawn="1">
          <p15:clr>
            <a:srgbClr val="F26B43"/>
          </p15:clr>
        </p15:guide>
        <p15:guide id="101" orient="horz" pos="216" userDrawn="1">
          <p15:clr>
            <a:srgbClr val="F26B43"/>
          </p15:clr>
        </p15:guide>
        <p15:guide id="102" orient="horz" pos="432" userDrawn="1">
          <p15:clr>
            <a:srgbClr val="F26B43"/>
          </p15:clr>
        </p15:guide>
        <p15:guide id="103" pos="288" userDrawn="1">
          <p15:clr>
            <a:srgbClr val="F26B43"/>
          </p15:clr>
        </p15:guide>
        <p15:guide id="104"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FFFFFF"/>
                </a:solidFill>
                <a:latin typeface="Aptos"/>
              </a:rPr>
              <a:t>Intelligent Asset Discovery</a:t>
            </a:r>
          </a:p>
        </p:txBody>
      </p:sp>
      <p:sp>
        <p:nvSpPr>
          <p:cNvPr id="3" name="Text Placeholder 2"/>
          <p:cNvSpPr>
            <a:spLocks noGrp="1"/>
          </p:cNvSpPr>
          <p:nvPr>
            <p:ph type="body" idx="10" sz="quarter"/>
          </p:nvPr>
        </p:nvSpPr>
        <p:spPr/>
        <p:txBody>
          <a:bodyPr/>
          <a:lstStyle/>
          <a:p>
            <a:r>
              <a:rPr>
                <a:solidFill>
                  <a:srgbClr val="97999B"/>
                </a:solidFill>
                <a:latin typeface="Aptos"/>
              </a:rPr>
              <a:t>Royal Caribbean Group · GenAI DAM Platform · March 2026</a:t>
            </a:r>
          </a:p>
        </p:txBody>
      </p:sp>
      <p:pic>
        <p:nvPicPr>
          <p:cNvPr id="4" name="Picture Placeholder 3" descr="GettyImages-1148091793.jpg"/>
          <p:cNvPicPr>
            <a:picLocks noGrp="1" noChangeAspect="1"/>
          </p:cNvPicPr>
          <p:nvPr>
            <p:ph type="pic" idx="11" sz="quarter"/>
          </p:nvPr>
        </p:nvPicPr>
        <p:blipFill>
          <a:blip r:embed="rId2"/>
          <a:srcRect l="21875" r="21875"/>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Content teams lose days to fragmented, poorly labelled asset libraries</a:t>
            </a:r>
          </a:p>
        </p:txBody>
      </p:sp>
      <p:sp>
        <p:nvSpPr>
          <p:cNvPr id="3" name="Rectangle 2"/>
          <p:cNvSpPr/>
          <p:nvPr/>
        </p:nvSpPr>
        <p:spPr>
          <a:xfrm>
            <a:off x="457200" y="1783080"/>
            <a:ext cx="5303520"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92807"/>
            <a:ext cx="5303520" cy="256032"/>
          </a:xfrm>
          <a:prstGeom prst="rect">
            <a:avLst/>
          </a:prstGeom>
          <a:noFill/>
        </p:spPr>
        <p:txBody>
          <a:bodyPr wrap="square">
            <a:spAutoFit/>
          </a:bodyPr>
          <a:lstStyle/>
          <a:p>
            <a:pPr algn="l"/>
            <a:r>
              <a:rPr sz="1000" b="1" i="0">
                <a:solidFill>
                  <a:srgbClr val="282728"/>
                </a:solidFill>
                <a:latin typeface="Aptos"/>
              </a:rPr>
              <a:t>Assets spread across 2+ DAM systems</a:t>
            </a:r>
          </a:p>
        </p:txBody>
      </p:sp>
      <p:sp>
        <p:nvSpPr>
          <p:cNvPr id="5" name="TextBox 4"/>
          <p:cNvSpPr txBox="1"/>
          <p:nvPr/>
        </p:nvSpPr>
        <p:spPr>
          <a:xfrm>
            <a:off x="457200" y="2167128"/>
            <a:ext cx="5303520" cy="457200"/>
          </a:xfrm>
          <a:prstGeom prst="rect">
            <a:avLst/>
          </a:prstGeom>
          <a:noFill/>
        </p:spPr>
        <p:txBody>
          <a:bodyPr wrap="square">
            <a:spAutoFit/>
          </a:bodyPr>
          <a:lstStyle/>
          <a:p>
            <a:pPr algn="l"/>
            <a:r>
              <a:rPr sz="900" b="0" i="0">
                <a:solidFill>
                  <a:srgbClr val="53565A"/>
                </a:solidFill>
                <a:latin typeface="Aptos"/>
              </a:rPr>
              <a:t>No single search covers all libraries — authors jump between tools</a:t>
            </a:r>
          </a:p>
        </p:txBody>
      </p:sp>
      <p:sp>
        <p:nvSpPr>
          <p:cNvPr id="6" name="Rectangle 5"/>
          <p:cNvSpPr/>
          <p:nvPr/>
        </p:nvSpPr>
        <p:spPr>
          <a:xfrm>
            <a:off x="457200" y="2743200"/>
            <a:ext cx="5303520"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852928"/>
            <a:ext cx="5303520" cy="256032"/>
          </a:xfrm>
          <a:prstGeom prst="rect">
            <a:avLst/>
          </a:prstGeom>
          <a:noFill/>
        </p:spPr>
        <p:txBody>
          <a:bodyPr wrap="square">
            <a:spAutoFit/>
          </a:bodyPr>
          <a:lstStyle/>
          <a:p>
            <a:pPr algn="l"/>
            <a:r>
              <a:rPr sz="1000" b="1" i="0">
                <a:solidFill>
                  <a:srgbClr val="282728"/>
                </a:solidFill>
                <a:latin typeface="Aptos"/>
              </a:rPr>
              <a:t>Inconsistent &amp; incomplete metadata</a:t>
            </a:r>
          </a:p>
        </p:txBody>
      </p:sp>
      <p:sp>
        <p:nvSpPr>
          <p:cNvPr id="8" name="TextBox 7"/>
          <p:cNvSpPr txBox="1"/>
          <p:nvPr/>
        </p:nvSpPr>
        <p:spPr>
          <a:xfrm>
            <a:off x="457200" y="3127248"/>
            <a:ext cx="5303520" cy="457200"/>
          </a:xfrm>
          <a:prstGeom prst="rect">
            <a:avLst/>
          </a:prstGeom>
          <a:noFill/>
        </p:spPr>
        <p:txBody>
          <a:bodyPr wrap="square">
            <a:spAutoFit/>
          </a:bodyPr>
          <a:lstStyle/>
          <a:p>
            <a:pPr algn="l"/>
            <a:r>
              <a:rPr sz="900" b="0" i="0">
                <a:solidFill>
                  <a:srgbClr val="53565A"/>
                </a:solidFill>
                <a:latin typeface="Aptos"/>
              </a:rPr>
              <a:t>Files named 'RC-0042.jpg' with no tags, ship, or campaign context</a:t>
            </a:r>
          </a:p>
        </p:txBody>
      </p:sp>
      <p:sp>
        <p:nvSpPr>
          <p:cNvPr id="9" name="Rectangle 8"/>
          <p:cNvSpPr/>
          <p:nvPr/>
        </p:nvSpPr>
        <p:spPr>
          <a:xfrm>
            <a:off x="457200" y="3703320"/>
            <a:ext cx="5303520"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813048"/>
            <a:ext cx="5303520" cy="256032"/>
          </a:xfrm>
          <a:prstGeom prst="rect">
            <a:avLst/>
          </a:prstGeom>
          <a:noFill/>
        </p:spPr>
        <p:txBody>
          <a:bodyPr wrap="square">
            <a:spAutoFit/>
          </a:bodyPr>
          <a:lstStyle/>
          <a:p>
            <a:pPr algn="l"/>
            <a:r>
              <a:rPr sz="1000" b="1" i="0">
                <a:solidFill>
                  <a:srgbClr val="282728"/>
                </a:solidFill>
                <a:latin typeface="Aptos"/>
              </a:rPr>
              <a:t>Manual rights verification</a:t>
            </a:r>
          </a:p>
        </p:txBody>
      </p:sp>
      <p:sp>
        <p:nvSpPr>
          <p:cNvPr id="11" name="TextBox 10"/>
          <p:cNvSpPr txBox="1"/>
          <p:nvPr/>
        </p:nvSpPr>
        <p:spPr>
          <a:xfrm>
            <a:off x="457200" y="4087368"/>
            <a:ext cx="5303520" cy="457200"/>
          </a:xfrm>
          <a:prstGeom prst="rect">
            <a:avLst/>
          </a:prstGeom>
          <a:noFill/>
        </p:spPr>
        <p:txBody>
          <a:bodyPr wrap="square">
            <a:spAutoFit/>
          </a:bodyPr>
          <a:lstStyle/>
          <a:p>
            <a:pPr algn="l"/>
            <a:r>
              <a:rPr sz="900" b="0" i="0">
                <a:solidFill>
                  <a:srgbClr val="53565A"/>
                </a:solidFill>
                <a:latin typeface="Aptos"/>
              </a:rPr>
              <a:t>Every image requires a separate check before it can be used in a campaign</a:t>
            </a:r>
          </a:p>
        </p:txBody>
      </p:sp>
      <p:sp>
        <p:nvSpPr>
          <p:cNvPr id="12" name="Rectangle 11"/>
          <p:cNvSpPr/>
          <p:nvPr/>
        </p:nvSpPr>
        <p:spPr>
          <a:xfrm>
            <a:off x="457200" y="4663440"/>
            <a:ext cx="5303520"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773168"/>
            <a:ext cx="5303520" cy="256032"/>
          </a:xfrm>
          <a:prstGeom prst="rect">
            <a:avLst/>
          </a:prstGeom>
          <a:noFill/>
        </p:spPr>
        <p:txBody>
          <a:bodyPr wrap="square">
            <a:spAutoFit/>
          </a:bodyPr>
          <a:lstStyle/>
          <a:p>
            <a:pPr algn="l"/>
            <a:r>
              <a:rPr sz="1000" b="1" i="0">
                <a:solidFill>
                  <a:srgbClr val="282728"/>
                </a:solidFill>
                <a:latin typeface="Aptos"/>
              </a:rPr>
              <a:t>Slow time-to-publish</a:t>
            </a:r>
          </a:p>
        </p:txBody>
      </p:sp>
      <p:sp>
        <p:nvSpPr>
          <p:cNvPr id="14" name="TextBox 13"/>
          <p:cNvSpPr txBox="1"/>
          <p:nvPr/>
        </p:nvSpPr>
        <p:spPr>
          <a:xfrm>
            <a:off x="457200" y="5047488"/>
            <a:ext cx="5303520" cy="457200"/>
          </a:xfrm>
          <a:prstGeom prst="rect">
            <a:avLst/>
          </a:prstGeom>
          <a:noFill/>
        </p:spPr>
        <p:txBody>
          <a:bodyPr wrap="square">
            <a:spAutoFit/>
          </a:bodyPr>
          <a:lstStyle/>
          <a:p>
            <a:pPr algn="l"/>
            <a:r>
              <a:rPr sz="900" b="0" i="0">
                <a:solidFill>
                  <a:srgbClr val="53565A"/>
                </a:solidFill>
                <a:latin typeface="Aptos"/>
              </a:rPr>
              <a:t>Campaign assembly takes days when asset discovery alone takes hours</a:t>
            </a:r>
          </a:p>
        </p:txBody>
      </p:sp>
      <p:sp>
        <p:nvSpPr>
          <p:cNvPr id="15" name="Rectangle 14"/>
          <p:cNvSpPr/>
          <p:nvPr/>
        </p:nvSpPr>
        <p:spPr>
          <a:xfrm>
            <a:off x="6492240" y="1828800"/>
            <a:ext cx="5212080" cy="1024128"/>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828800"/>
            <a:ext cx="5212080"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901952"/>
            <a:ext cx="5212080" cy="530352"/>
          </a:xfrm>
          <a:prstGeom prst="rect">
            <a:avLst/>
          </a:prstGeom>
          <a:noFill/>
        </p:spPr>
        <p:txBody>
          <a:bodyPr wrap="none">
            <a:spAutoFit/>
          </a:bodyPr>
          <a:lstStyle/>
          <a:p>
            <a:pPr algn="ctr"/>
            <a:r>
              <a:rPr sz="3400" b="1">
                <a:solidFill>
                  <a:srgbClr val="86BC25"/>
                </a:solidFill>
                <a:latin typeface="Aptos"/>
              </a:rPr>
              <a:t>Days</a:t>
            </a:r>
          </a:p>
        </p:txBody>
      </p:sp>
      <p:sp>
        <p:nvSpPr>
          <p:cNvPr id="18" name="TextBox 17"/>
          <p:cNvSpPr txBox="1"/>
          <p:nvPr/>
        </p:nvSpPr>
        <p:spPr>
          <a:xfrm>
            <a:off x="6492240" y="2450592"/>
            <a:ext cx="5212080" cy="347472"/>
          </a:xfrm>
          <a:prstGeom prst="rect">
            <a:avLst/>
          </a:prstGeom>
          <a:noFill/>
        </p:spPr>
        <p:txBody>
          <a:bodyPr wrap="square">
            <a:spAutoFit/>
          </a:bodyPr>
          <a:lstStyle/>
          <a:p>
            <a:pPr algn="ctr"/>
            <a:r>
              <a:rPr sz="800">
                <a:solidFill>
                  <a:srgbClr val="53565A"/>
                </a:solidFill>
                <a:latin typeface="Aptos"/>
              </a:rPr>
              <a:t>avg. time to assemble a campaign-ready asset set</a:t>
            </a:r>
          </a:p>
        </p:txBody>
      </p:sp>
      <p:sp>
        <p:nvSpPr>
          <p:cNvPr id="19" name="Rectangle 18"/>
          <p:cNvSpPr/>
          <p:nvPr/>
        </p:nvSpPr>
        <p:spPr>
          <a:xfrm>
            <a:off x="6492240" y="3017520"/>
            <a:ext cx="5212080" cy="1024128"/>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3017520"/>
            <a:ext cx="5212080"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090672"/>
            <a:ext cx="5212080" cy="530352"/>
          </a:xfrm>
          <a:prstGeom prst="rect">
            <a:avLst/>
          </a:prstGeom>
          <a:noFill/>
        </p:spPr>
        <p:txBody>
          <a:bodyPr wrap="none">
            <a:spAutoFit/>
          </a:bodyPr>
          <a:lstStyle/>
          <a:p>
            <a:pPr algn="ctr"/>
            <a:r>
              <a:rPr sz="3400" b="1">
                <a:solidFill>
                  <a:srgbClr val="86BC25"/>
                </a:solidFill>
                <a:latin typeface="Aptos"/>
              </a:rPr>
              <a:t>2+</a:t>
            </a:r>
          </a:p>
        </p:txBody>
      </p:sp>
      <p:sp>
        <p:nvSpPr>
          <p:cNvPr id="22" name="TextBox 21"/>
          <p:cNvSpPr txBox="1"/>
          <p:nvPr/>
        </p:nvSpPr>
        <p:spPr>
          <a:xfrm>
            <a:off x="6492240" y="3639312"/>
            <a:ext cx="5212080" cy="347472"/>
          </a:xfrm>
          <a:prstGeom prst="rect">
            <a:avLst/>
          </a:prstGeom>
          <a:noFill/>
        </p:spPr>
        <p:txBody>
          <a:bodyPr wrap="square">
            <a:spAutoFit/>
          </a:bodyPr>
          <a:lstStyle/>
          <a:p>
            <a:pPr algn="ctr"/>
            <a:r>
              <a:rPr sz="800">
                <a:solidFill>
                  <a:srgbClr val="53565A"/>
                </a:solidFill>
                <a:latin typeface="Aptos"/>
              </a:rPr>
              <a:t>separate DAM systems content authors must search</a:t>
            </a:r>
          </a:p>
        </p:txBody>
      </p:sp>
      <p:sp>
        <p:nvSpPr>
          <p:cNvPr id="23" name="Rectangle 22"/>
          <p:cNvSpPr/>
          <p:nvPr/>
        </p:nvSpPr>
        <p:spPr>
          <a:xfrm>
            <a:off x="6492240" y="4206240"/>
            <a:ext cx="5212080" cy="1024128"/>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4206240"/>
            <a:ext cx="5212080"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4279392"/>
            <a:ext cx="5212080" cy="530352"/>
          </a:xfrm>
          <a:prstGeom prst="rect">
            <a:avLst/>
          </a:prstGeom>
          <a:noFill/>
        </p:spPr>
        <p:txBody>
          <a:bodyPr wrap="none">
            <a:spAutoFit/>
          </a:bodyPr>
          <a:lstStyle/>
          <a:p>
            <a:pPr algn="ctr"/>
            <a:r>
              <a:rPr sz="3400" b="1">
                <a:solidFill>
                  <a:srgbClr val="86BC25"/>
                </a:solidFill>
                <a:latin typeface="Aptos"/>
              </a:rPr>
              <a:t>~40%</a:t>
            </a:r>
          </a:p>
        </p:txBody>
      </p:sp>
      <p:sp>
        <p:nvSpPr>
          <p:cNvPr id="26" name="TextBox 25"/>
          <p:cNvSpPr txBox="1"/>
          <p:nvPr/>
        </p:nvSpPr>
        <p:spPr>
          <a:xfrm>
            <a:off x="6492240" y="4828031"/>
            <a:ext cx="5212080" cy="347472"/>
          </a:xfrm>
          <a:prstGeom prst="rect">
            <a:avLst/>
          </a:prstGeom>
          <a:noFill/>
        </p:spPr>
        <p:txBody>
          <a:bodyPr wrap="square">
            <a:spAutoFit/>
          </a:bodyPr>
          <a:lstStyle/>
          <a:p>
            <a:pPr algn="ctr"/>
            <a:r>
              <a:rPr sz="800">
                <a:solidFill>
                  <a:srgbClr val="53565A"/>
                </a:solidFill>
                <a:latin typeface="Aptos"/>
              </a:rPr>
              <a:t>of metadata fields incomplete or missing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GenAI enrichment and semantic search cut discovery time from days to seconds</a:t>
            </a:r>
          </a:p>
        </p:txBody>
      </p:sp>
      <p:sp>
        <p:nvSpPr>
          <p:cNvPr id="3" name="Rectangle 2"/>
          <p:cNvSpPr/>
          <p:nvPr/>
        </p:nvSpPr>
        <p:spPr>
          <a:xfrm>
            <a:off x="457200" y="1783080"/>
            <a:ext cx="3657600" cy="429768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783080"/>
            <a:ext cx="3657600" cy="64008"/>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943100" y="2171700"/>
            <a:ext cx="685800" cy="685800"/>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Aptos"/>
              </a:rPr>
              <a:t>1</a:t>
            </a:r>
          </a:p>
        </p:txBody>
      </p:sp>
      <p:sp>
        <p:nvSpPr>
          <p:cNvPr id="6" name="TextBox 5"/>
          <p:cNvSpPr txBox="1"/>
          <p:nvPr/>
        </p:nvSpPr>
        <p:spPr>
          <a:xfrm>
            <a:off x="594360" y="3063240"/>
            <a:ext cx="3383280" cy="347472"/>
          </a:xfrm>
          <a:prstGeom prst="rect">
            <a:avLst/>
          </a:prstGeom>
          <a:noFill/>
        </p:spPr>
        <p:txBody>
          <a:bodyPr wrap="square">
            <a:spAutoFit/>
          </a:bodyPr>
          <a:lstStyle/>
          <a:p>
            <a:pPr algn="ctr"/>
            <a:r>
              <a:rPr sz="1200" b="1" i="0">
                <a:solidFill>
                  <a:srgbClr val="282728"/>
                </a:solidFill>
                <a:latin typeface="Aptos"/>
              </a:rPr>
              <a:t>Metadata enrichment</a:t>
            </a:r>
          </a:p>
        </p:txBody>
      </p:sp>
      <p:sp>
        <p:nvSpPr>
          <p:cNvPr id="7" name="TextBox 6"/>
          <p:cNvSpPr txBox="1"/>
          <p:nvPr/>
        </p:nvSpPr>
        <p:spPr>
          <a:xfrm>
            <a:off x="594360" y="3456432"/>
            <a:ext cx="3383280" cy="2286000"/>
          </a:xfrm>
          <a:prstGeom prst="rect">
            <a:avLst/>
          </a:prstGeom>
          <a:noFill/>
        </p:spPr>
        <p:txBody>
          <a:bodyPr wrap="square">
            <a:spAutoFit/>
          </a:bodyPr>
          <a:lstStyle/>
          <a:p>
            <a:pPr algn="ctr"/>
            <a:r>
              <a:rPr sz="900" b="0" i="0">
                <a:solidFill>
                  <a:srgbClr val="53565A"/>
                </a:solidFill>
                <a:latin typeface="Aptos"/>
              </a:rPr>
              <a:t>AI reads each asset and writes rich descriptions, tags, channel fit, and rights summaries — filling gaps the original upload left empty.</a:t>
            </a:r>
          </a:p>
        </p:txBody>
      </p:sp>
      <p:sp>
        <p:nvSpPr>
          <p:cNvPr id="8" name="Rectangle 7"/>
          <p:cNvSpPr/>
          <p:nvPr/>
        </p:nvSpPr>
        <p:spPr>
          <a:xfrm>
            <a:off x="4361688" y="1783080"/>
            <a:ext cx="3657600" cy="429768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1688" y="1783080"/>
            <a:ext cx="3657600" cy="64008"/>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847588" y="2171700"/>
            <a:ext cx="685800" cy="685800"/>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Aptos"/>
              </a:rPr>
              <a:t>2</a:t>
            </a:r>
          </a:p>
        </p:txBody>
      </p:sp>
      <p:sp>
        <p:nvSpPr>
          <p:cNvPr id="11" name="TextBox 10"/>
          <p:cNvSpPr txBox="1"/>
          <p:nvPr/>
        </p:nvSpPr>
        <p:spPr>
          <a:xfrm>
            <a:off x="4498848" y="3063240"/>
            <a:ext cx="3383280" cy="347472"/>
          </a:xfrm>
          <a:prstGeom prst="rect">
            <a:avLst/>
          </a:prstGeom>
          <a:noFill/>
        </p:spPr>
        <p:txBody>
          <a:bodyPr wrap="square">
            <a:spAutoFit/>
          </a:bodyPr>
          <a:lstStyle/>
          <a:p>
            <a:pPr algn="ctr"/>
            <a:r>
              <a:rPr sz="1200" b="1" i="0">
                <a:solidFill>
                  <a:srgbClr val="282728"/>
                </a:solidFill>
                <a:latin typeface="Aptos"/>
              </a:rPr>
              <a:t>Semantic search</a:t>
            </a:r>
          </a:p>
        </p:txBody>
      </p:sp>
      <p:sp>
        <p:nvSpPr>
          <p:cNvPr id="12" name="TextBox 11"/>
          <p:cNvSpPr txBox="1"/>
          <p:nvPr/>
        </p:nvSpPr>
        <p:spPr>
          <a:xfrm>
            <a:off x="4498848" y="3456432"/>
            <a:ext cx="3383280" cy="2286000"/>
          </a:xfrm>
          <a:prstGeom prst="rect">
            <a:avLst/>
          </a:prstGeom>
          <a:noFill/>
        </p:spPr>
        <p:txBody>
          <a:bodyPr wrap="square">
            <a:spAutoFit/>
          </a:bodyPr>
          <a:lstStyle/>
          <a:p>
            <a:pPr algn="ctr"/>
            <a:r>
              <a:rPr sz="900" b="0" i="0">
                <a:solidFill>
                  <a:srgbClr val="53565A"/>
                </a:solidFill>
                <a:latin typeface="Aptos"/>
              </a:rPr>
              <a:t>Content authors type natural language queries. The system finds assets by meaning, not keywords — even when the filename gives nothing away.</a:t>
            </a:r>
          </a:p>
        </p:txBody>
      </p:sp>
      <p:sp>
        <p:nvSpPr>
          <p:cNvPr id="13" name="Rectangle 12"/>
          <p:cNvSpPr/>
          <p:nvPr/>
        </p:nvSpPr>
        <p:spPr>
          <a:xfrm>
            <a:off x="8266175" y="1783080"/>
            <a:ext cx="3657600" cy="429768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66175" y="1783080"/>
            <a:ext cx="3657600" cy="64008"/>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52076" y="2171700"/>
            <a:ext cx="685800" cy="685800"/>
          </a:xfrm>
          <a:prstGeom prst="ellipse">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Aptos"/>
              </a:rPr>
              <a:t>3</a:t>
            </a:r>
          </a:p>
        </p:txBody>
      </p:sp>
      <p:sp>
        <p:nvSpPr>
          <p:cNvPr id="16" name="TextBox 15"/>
          <p:cNvSpPr txBox="1"/>
          <p:nvPr/>
        </p:nvSpPr>
        <p:spPr>
          <a:xfrm>
            <a:off x="8403336" y="3063240"/>
            <a:ext cx="3383280" cy="347472"/>
          </a:xfrm>
          <a:prstGeom prst="rect">
            <a:avLst/>
          </a:prstGeom>
          <a:noFill/>
        </p:spPr>
        <p:txBody>
          <a:bodyPr wrap="square">
            <a:spAutoFit/>
          </a:bodyPr>
          <a:lstStyle/>
          <a:p>
            <a:pPr algn="ctr"/>
            <a:r>
              <a:rPr sz="1200" b="1" i="0">
                <a:solidFill>
                  <a:srgbClr val="282728"/>
                </a:solidFill>
                <a:latin typeface="Aptos"/>
              </a:rPr>
              <a:t>Rights visibility</a:t>
            </a:r>
          </a:p>
        </p:txBody>
      </p:sp>
      <p:sp>
        <p:nvSpPr>
          <p:cNvPr id="17" name="TextBox 16"/>
          <p:cNvSpPr txBox="1"/>
          <p:nvPr/>
        </p:nvSpPr>
        <p:spPr>
          <a:xfrm>
            <a:off x="8403336" y="3456432"/>
            <a:ext cx="3383280" cy="2286000"/>
          </a:xfrm>
          <a:prstGeom prst="rect">
            <a:avLst/>
          </a:prstGeom>
          <a:noFill/>
        </p:spPr>
        <p:txBody>
          <a:bodyPr wrap="square">
            <a:spAutoFit/>
          </a:bodyPr>
          <a:lstStyle/>
          <a:p>
            <a:pPr algn="ctr"/>
            <a:r>
              <a:rPr sz="900" b="0" i="0">
                <a:solidFill>
                  <a:srgbClr val="53565A"/>
                </a:solidFill>
                <a:latin typeface="Aptos"/>
              </a:rPr>
              <a:t>Every result surfaces the rights status in plain English so authors can select assets with confidence, not guesswork.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How it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A four-step pipeline ingests, enriches, and indexes all existing and new assets</a:t>
            </a:r>
          </a:p>
        </p:txBody>
      </p:sp>
      <p:sp>
        <p:nvSpPr>
          <p:cNvPr id="3" name="Chevron 2"/>
          <p:cNvSpPr/>
          <p:nvPr/>
        </p:nvSpPr>
        <p:spPr>
          <a:xfrm>
            <a:off x="457200" y="2414016"/>
            <a:ext cx="2772918" cy="658368"/>
          </a:xfrm>
          <a:prstGeom prst="chevron">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Aptos"/>
              </a:rPr>
              <a:t>1 · Scan DAM</a:t>
            </a:r>
          </a:p>
        </p:txBody>
      </p:sp>
      <p:sp>
        <p:nvSpPr>
          <p:cNvPr id="4" name="TextBox 3"/>
          <p:cNvSpPr txBox="1"/>
          <p:nvPr/>
        </p:nvSpPr>
        <p:spPr>
          <a:xfrm>
            <a:off x="457200" y="3182112"/>
            <a:ext cx="2727198" cy="1280160"/>
          </a:xfrm>
          <a:prstGeom prst="rect">
            <a:avLst/>
          </a:prstGeom>
          <a:noFill/>
        </p:spPr>
        <p:txBody>
          <a:bodyPr wrap="square">
            <a:spAutoFit/>
          </a:bodyPr>
          <a:lstStyle/>
          <a:p>
            <a:pPr algn="ctr"/>
            <a:r>
              <a:rPr sz="750" b="0" i="0">
                <a:solidFill>
                  <a:srgbClr val="53565A"/>
                </a:solidFill>
                <a:latin typeface="Aptos"/>
              </a:rPr>
              <a:t>Walk AEM JCR folders
parse metadata XML
build asset records</a:t>
            </a:r>
          </a:p>
        </p:txBody>
      </p:sp>
      <p:sp>
        <p:nvSpPr>
          <p:cNvPr id="5" name="Chevron 4"/>
          <p:cNvSpPr/>
          <p:nvPr/>
        </p:nvSpPr>
        <p:spPr>
          <a:xfrm>
            <a:off x="3275838" y="2414016"/>
            <a:ext cx="2772918" cy="658368"/>
          </a:xfrm>
          <a:prstGeom prst="chevron">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Aptos"/>
              </a:rPr>
              <a:t>2 · Enrich</a:t>
            </a:r>
          </a:p>
        </p:txBody>
      </p:sp>
      <p:sp>
        <p:nvSpPr>
          <p:cNvPr id="6" name="TextBox 5"/>
          <p:cNvSpPr txBox="1"/>
          <p:nvPr/>
        </p:nvSpPr>
        <p:spPr>
          <a:xfrm>
            <a:off x="3275838" y="3182112"/>
            <a:ext cx="2727198" cy="1280160"/>
          </a:xfrm>
          <a:prstGeom prst="rect">
            <a:avLst/>
          </a:prstGeom>
          <a:noFill/>
        </p:spPr>
        <p:txBody>
          <a:bodyPr wrap="square">
            <a:spAutoFit/>
          </a:bodyPr>
          <a:lstStyle/>
          <a:p>
            <a:pPr algn="ctr"/>
            <a:r>
              <a:rPr sz="750" b="0" i="0">
                <a:solidFill>
                  <a:srgbClr val="53565A"/>
                </a:solidFill>
                <a:latin typeface="Aptos"/>
              </a:rPr>
              <a:t>OpenAI generates
tags · description
channel · rights</a:t>
            </a:r>
          </a:p>
        </p:txBody>
      </p:sp>
      <p:sp>
        <p:nvSpPr>
          <p:cNvPr id="7" name="Chevron 6"/>
          <p:cNvSpPr/>
          <p:nvPr/>
        </p:nvSpPr>
        <p:spPr>
          <a:xfrm>
            <a:off x="6094476" y="2414016"/>
            <a:ext cx="2772918" cy="658368"/>
          </a:xfrm>
          <a:prstGeom prst="chevron">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Aptos"/>
              </a:rPr>
              <a:t>3 · Persist</a:t>
            </a:r>
          </a:p>
        </p:txBody>
      </p:sp>
      <p:sp>
        <p:nvSpPr>
          <p:cNvPr id="8" name="TextBox 7"/>
          <p:cNvSpPr txBox="1"/>
          <p:nvPr/>
        </p:nvSpPr>
        <p:spPr>
          <a:xfrm>
            <a:off x="6094476" y="3182112"/>
            <a:ext cx="2727198" cy="1280160"/>
          </a:xfrm>
          <a:prstGeom prst="rect">
            <a:avLst/>
          </a:prstGeom>
          <a:noFill/>
        </p:spPr>
        <p:txBody>
          <a:bodyPr wrap="square">
            <a:spAutoFit/>
          </a:bodyPr>
          <a:lstStyle/>
          <a:p>
            <a:pPr algn="ctr"/>
            <a:r>
              <a:rPr sz="750" b="0" i="0">
                <a:solidFill>
                  <a:srgbClr val="53565A"/>
                </a:solidFill>
                <a:latin typeface="Aptos"/>
              </a:rPr>
              <a:t>Save to state file
enables resume
and audit trail</a:t>
            </a:r>
          </a:p>
        </p:txBody>
      </p:sp>
      <p:sp>
        <p:nvSpPr>
          <p:cNvPr id="9" name="Chevron 8"/>
          <p:cNvSpPr/>
          <p:nvPr/>
        </p:nvSpPr>
        <p:spPr>
          <a:xfrm>
            <a:off x="8913114" y="2414016"/>
            <a:ext cx="2772918" cy="658368"/>
          </a:xfrm>
          <a:prstGeom prst="chevron">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FFFFFF"/>
                </a:solidFill>
                <a:latin typeface="Aptos"/>
              </a:rPr>
              <a:t>4 · Embed + Index</a:t>
            </a:r>
          </a:p>
        </p:txBody>
      </p:sp>
      <p:sp>
        <p:nvSpPr>
          <p:cNvPr id="10" name="TextBox 9"/>
          <p:cNvSpPr txBox="1"/>
          <p:nvPr/>
        </p:nvSpPr>
        <p:spPr>
          <a:xfrm>
            <a:off x="8913114" y="3182112"/>
            <a:ext cx="2727198" cy="1280160"/>
          </a:xfrm>
          <a:prstGeom prst="rect">
            <a:avLst/>
          </a:prstGeom>
          <a:noFill/>
        </p:spPr>
        <p:txBody>
          <a:bodyPr wrap="square">
            <a:spAutoFit/>
          </a:bodyPr>
          <a:lstStyle/>
          <a:p>
            <a:pPr algn="ctr"/>
            <a:r>
              <a:rPr sz="750" b="0" i="0">
                <a:solidFill>
                  <a:srgbClr val="53565A"/>
                </a:solidFill>
                <a:latin typeface="Aptos"/>
              </a:rPr>
              <a:t>Vector embedding
Chroma DB upsert
change detection</a:t>
            </a:r>
          </a:p>
        </p:txBody>
      </p:sp>
      <p:sp>
        <p:nvSpPr>
          <p:cNvPr id="11" name="Rectangle 10"/>
          <p:cNvSpPr/>
          <p:nvPr/>
        </p:nvSpPr>
        <p:spPr>
          <a:xfrm>
            <a:off x="457200" y="4160520"/>
            <a:ext cx="5394960" cy="164592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160520"/>
            <a:ext cx="5394960" cy="64008"/>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279392"/>
            <a:ext cx="5120640" cy="274320"/>
          </a:xfrm>
          <a:prstGeom prst="rect">
            <a:avLst/>
          </a:prstGeom>
          <a:noFill/>
        </p:spPr>
        <p:txBody>
          <a:bodyPr wrap="square">
            <a:spAutoFit/>
          </a:bodyPr>
          <a:lstStyle/>
          <a:p>
            <a:pPr algn="l"/>
            <a:r>
              <a:rPr sz="1000" b="1" i="0">
                <a:solidFill>
                  <a:srgbClr val="282728"/>
                </a:solidFill>
                <a:latin typeface="Aptos"/>
              </a:rPr>
              <a:t>Batch mode</a:t>
            </a:r>
          </a:p>
        </p:txBody>
      </p:sp>
      <p:sp>
        <p:nvSpPr>
          <p:cNvPr id="14" name="TextBox 13"/>
          <p:cNvSpPr txBox="1"/>
          <p:nvPr/>
        </p:nvSpPr>
        <p:spPr>
          <a:xfrm>
            <a:off x="594360" y="4590288"/>
            <a:ext cx="5120640" cy="1097280"/>
          </a:xfrm>
          <a:prstGeom prst="rect">
            <a:avLst/>
          </a:prstGeom>
          <a:noFill/>
        </p:spPr>
        <p:txBody>
          <a:bodyPr wrap="square">
            <a:spAutoFit/>
          </a:bodyPr>
          <a:lstStyle/>
          <a:p>
            <a:pPr algn="l"/>
            <a:r>
              <a:rPr sz="850" b="0" i="0">
                <a:solidFill>
                  <a:srgbClr val="53565A"/>
                </a:solidFill>
                <a:latin typeface="Aptos"/>
              </a:rPr>
              <a:t>First run — scans all existing assets.
Re-processes only assets whose
metadata has changed (hash check).</a:t>
            </a:r>
          </a:p>
        </p:txBody>
      </p:sp>
      <p:sp>
        <p:nvSpPr>
          <p:cNvPr id="15" name="Rectangle 14"/>
          <p:cNvSpPr/>
          <p:nvPr/>
        </p:nvSpPr>
        <p:spPr>
          <a:xfrm>
            <a:off x="6172200" y="4160520"/>
            <a:ext cx="5394960" cy="164592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160520"/>
            <a:ext cx="5394960" cy="64008"/>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279392"/>
            <a:ext cx="5120640" cy="274320"/>
          </a:xfrm>
          <a:prstGeom prst="rect">
            <a:avLst/>
          </a:prstGeom>
          <a:noFill/>
        </p:spPr>
        <p:txBody>
          <a:bodyPr wrap="square">
            <a:spAutoFit/>
          </a:bodyPr>
          <a:lstStyle/>
          <a:p>
            <a:pPr algn="l"/>
            <a:r>
              <a:rPr sz="1000" b="1" i="0">
                <a:solidFill>
                  <a:srgbClr val="282728"/>
                </a:solidFill>
                <a:latin typeface="Aptos"/>
              </a:rPr>
              <a:t>Incremental mode</a:t>
            </a:r>
          </a:p>
        </p:txBody>
      </p:sp>
      <p:sp>
        <p:nvSpPr>
          <p:cNvPr id="18" name="TextBox 17"/>
          <p:cNvSpPr txBox="1"/>
          <p:nvPr/>
        </p:nvSpPr>
        <p:spPr>
          <a:xfrm>
            <a:off x="6309360" y="4590288"/>
            <a:ext cx="5120640" cy="1097280"/>
          </a:xfrm>
          <a:prstGeom prst="rect">
            <a:avLst/>
          </a:prstGeom>
          <a:noFill/>
        </p:spPr>
        <p:txBody>
          <a:bodyPr wrap="square">
            <a:spAutoFit/>
          </a:bodyPr>
          <a:lstStyle/>
          <a:p>
            <a:pPr algn="l"/>
            <a:r>
              <a:rPr sz="850" b="0" i="0">
                <a:solidFill>
                  <a:srgbClr val="53565A"/>
                </a:solidFill>
                <a:latin typeface="Aptos"/>
              </a:rPr>
              <a:t>Runs on a schedule or webhook.
Detects new, changed, and deleted
assets. Skips everything unchanged.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Content authors find campaign-ready assets in seconds using natural language</a:t>
            </a:r>
          </a:p>
        </p:txBody>
      </p:sp>
      <p:sp>
        <p:nvSpPr>
          <p:cNvPr id="3" name="Rectangle 2"/>
          <p:cNvSpPr/>
          <p:nvPr/>
        </p:nvSpPr>
        <p:spPr>
          <a:xfrm>
            <a:off x="457200" y="1920240"/>
            <a:ext cx="1920240" cy="22860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920240"/>
            <a:ext cx="1920240" cy="64008"/>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65860" y="2235708"/>
            <a:ext cx="502920" cy="502920"/>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a:rPr>
              <a:t>1</a:t>
            </a:r>
          </a:p>
        </p:txBody>
      </p:sp>
      <p:sp>
        <p:nvSpPr>
          <p:cNvPr id="6" name="TextBox 5"/>
          <p:cNvSpPr txBox="1"/>
          <p:nvPr/>
        </p:nvSpPr>
        <p:spPr>
          <a:xfrm>
            <a:off x="548640" y="2880360"/>
            <a:ext cx="1737360" cy="292608"/>
          </a:xfrm>
          <a:prstGeom prst="rect">
            <a:avLst/>
          </a:prstGeom>
          <a:noFill/>
        </p:spPr>
        <p:txBody>
          <a:bodyPr wrap="square">
            <a:spAutoFit/>
          </a:bodyPr>
          <a:lstStyle/>
          <a:p>
            <a:pPr algn="ctr"/>
            <a:r>
              <a:rPr sz="900" b="1" i="0">
                <a:solidFill>
                  <a:srgbClr val="282728"/>
                </a:solidFill>
                <a:latin typeface="Aptos"/>
              </a:rPr>
              <a:t>Author types query</a:t>
            </a:r>
          </a:p>
        </p:txBody>
      </p:sp>
      <p:sp>
        <p:nvSpPr>
          <p:cNvPr id="7" name="TextBox 6"/>
          <p:cNvSpPr txBox="1"/>
          <p:nvPr/>
        </p:nvSpPr>
        <p:spPr>
          <a:xfrm>
            <a:off x="548640" y="3200400"/>
            <a:ext cx="1737360" cy="914400"/>
          </a:xfrm>
          <a:prstGeom prst="rect">
            <a:avLst/>
          </a:prstGeom>
          <a:noFill/>
        </p:spPr>
        <p:txBody>
          <a:bodyPr wrap="square">
            <a:spAutoFit/>
          </a:bodyPr>
          <a:lstStyle/>
          <a:p>
            <a:pPr algn="ctr"/>
            <a:r>
              <a:rPr sz="800" b="0" i="0">
                <a:solidFill>
                  <a:srgbClr val="53565A"/>
                </a:solidFill>
                <a:latin typeface="Aptos"/>
              </a:rPr>
              <a:t>"Beach, families,
sunset, Caribbean"</a:t>
            </a:r>
          </a:p>
        </p:txBody>
      </p:sp>
      <p:sp>
        <p:nvSpPr>
          <p:cNvPr id="8" name="Rectangle 7"/>
          <p:cNvSpPr/>
          <p:nvPr/>
        </p:nvSpPr>
        <p:spPr>
          <a:xfrm>
            <a:off x="2414016" y="2990088"/>
            <a:ext cx="201168" cy="1463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33472" y="1920240"/>
            <a:ext cx="1920240" cy="22860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33472" y="1920240"/>
            <a:ext cx="1920240" cy="64008"/>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42132" y="2235708"/>
            <a:ext cx="502920" cy="502920"/>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a:rPr>
              <a:t>2</a:t>
            </a:r>
          </a:p>
        </p:txBody>
      </p:sp>
      <p:sp>
        <p:nvSpPr>
          <p:cNvPr id="12" name="TextBox 11"/>
          <p:cNvSpPr txBox="1"/>
          <p:nvPr/>
        </p:nvSpPr>
        <p:spPr>
          <a:xfrm>
            <a:off x="2724912" y="2880360"/>
            <a:ext cx="1737360" cy="292608"/>
          </a:xfrm>
          <a:prstGeom prst="rect">
            <a:avLst/>
          </a:prstGeom>
          <a:noFill/>
        </p:spPr>
        <p:txBody>
          <a:bodyPr wrap="square">
            <a:spAutoFit/>
          </a:bodyPr>
          <a:lstStyle/>
          <a:p>
            <a:pPr algn="ctr"/>
            <a:r>
              <a:rPr sz="900" b="1" i="0">
                <a:solidFill>
                  <a:srgbClr val="282728"/>
                </a:solidFill>
                <a:latin typeface="Aptos"/>
              </a:rPr>
              <a:t>Query embedded</a:t>
            </a:r>
          </a:p>
        </p:txBody>
      </p:sp>
      <p:sp>
        <p:nvSpPr>
          <p:cNvPr id="13" name="TextBox 12"/>
          <p:cNvSpPr txBox="1"/>
          <p:nvPr/>
        </p:nvSpPr>
        <p:spPr>
          <a:xfrm>
            <a:off x="2724912" y="3200400"/>
            <a:ext cx="1737360" cy="914400"/>
          </a:xfrm>
          <a:prstGeom prst="rect">
            <a:avLst/>
          </a:prstGeom>
          <a:noFill/>
        </p:spPr>
        <p:txBody>
          <a:bodyPr wrap="square">
            <a:spAutoFit/>
          </a:bodyPr>
          <a:lstStyle/>
          <a:p>
            <a:pPr algn="ctr"/>
            <a:r>
              <a:rPr sz="800" b="0" i="0">
                <a:solidFill>
                  <a:srgbClr val="53565A"/>
                </a:solidFill>
                <a:latin typeface="Aptos"/>
              </a:rPr>
              <a:t>Same model as
index — 1536-dim
vector</a:t>
            </a:r>
          </a:p>
        </p:txBody>
      </p:sp>
      <p:sp>
        <p:nvSpPr>
          <p:cNvPr id="14" name="Rectangle 13"/>
          <p:cNvSpPr/>
          <p:nvPr/>
        </p:nvSpPr>
        <p:spPr>
          <a:xfrm>
            <a:off x="4590288" y="2990088"/>
            <a:ext cx="201168" cy="1463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9744" y="1920240"/>
            <a:ext cx="1920240" cy="22860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9744" y="1920240"/>
            <a:ext cx="1920240" cy="64008"/>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518403" y="2235708"/>
            <a:ext cx="502920" cy="502920"/>
          </a:xfrm>
          <a:prstGeom prst="ellipse">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a:rPr>
              <a:t>3</a:t>
            </a:r>
          </a:p>
        </p:txBody>
      </p:sp>
      <p:sp>
        <p:nvSpPr>
          <p:cNvPr id="18" name="TextBox 17"/>
          <p:cNvSpPr txBox="1"/>
          <p:nvPr/>
        </p:nvSpPr>
        <p:spPr>
          <a:xfrm>
            <a:off x="4901183" y="2880360"/>
            <a:ext cx="1737360" cy="292608"/>
          </a:xfrm>
          <a:prstGeom prst="rect">
            <a:avLst/>
          </a:prstGeom>
          <a:noFill/>
        </p:spPr>
        <p:txBody>
          <a:bodyPr wrap="square">
            <a:spAutoFit/>
          </a:bodyPr>
          <a:lstStyle/>
          <a:p>
            <a:pPr algn="ctr"/>
            <a:r>
              <a:rPr sz="900" b="1" i="0">
                <a:solidFill>
                  <a:srgbClr val="282728"/>
                </a:solidFill>
                <a:latin typeface="Aptos"/>
              </a:rPr>
              <a:t>Cosine similarity</a:t>
            </a:r>
          </a:p>
        </p:txBody>
      </p:sp>
      <p:sp>
        <p:nvSpPr>
          <p:cNvPr id="19" name="TextBox 18"/>
          <p:cNvSpPr txBox="1"/>
          <p:nvPr/>
        </p:nvSpPr>
        <p:spPr>
          <a:xfrm>
            <a:off x="4901183" y="3200400"/>
            <a:ext cx="1737360" cy="914400"/>
          </a:xfrm>
          <a:prstGeom prst="rect">
            <a:avLst/>
          </a:prstGeom>
          <a:noFill/>
        </p:spPr>
        <p:txBody>
          <a:bodyPr wrap="square">
            <a:spAutoFit/>
          </a:bodyPr>
          <a:lstStyle/>
          <a:p>
            <a:pPr algn="ctr"/>
            <a:r>
              <a:rPr sz="800" b="0" i="0">
                <a:solidFill>
                  <a:srgbClr val="53565A"/>
                </a:solidFill>
                <a:latin typeface="Aptos"/>
              </a:rPr>
              <a:t>Top-K nearest
vectors retrieved
from Chroma DB</a:t>
            </a:r>
          </a:p>
        </p:txBody>
      </p:sp>
      <p:sp>
        <p:nvSpPr>
          <p:cNvPr id="20" name="Rectangle 19"/>
          <p:cNvSpPr/>
          <p:nvPr/>
        </p:nvSpPr>
        <p:spPr>
          <a:xfrm>
            <a:off x="6766559" y="2990088"/>
            <a:ext cx="201168" cy="1463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86016" y="1920240"/>
            <a:ext cx="1920240" cy="22860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86016" y="1920240"/>
            <a:ext cx="1920240" cy="64008"/>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94675" y="2235708"/>
            <a:ext cx="502920" cy="50292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a:rPr>
              <a:t>4</a:t>
            </a:r>
          </a:p>
        </p:txBody>
      </p:sp>
      <p:sp>
        <p:nvSpPr>
          <p:cNvPr id="24" name="TextBox 23"/>
          <p:cNvSpPr txBox="1"/>
          <p:nvPr/>
        </p:nvSpPr>
        <p:spPr>
          <a:xfrm>
            <a:off x="7077455" y="2880360"/>
            <a:ext cx="1737360" cy="292608"/>
          </a:xfrm>
          <a:prstGeom prst="rect">
            <a:avLst/>
          </a:prstGeom>
          <a:noFill/>
        </p:spPr>
        <p:txBody>
          <a:bodyPr wrap="square">
            <a:spAutoFit/>
          </a:bodyPr>
          <a:lstStyle/>
          <a:p>
            <a:pPr algn="ctr"/>
            <a:r>
              <a:rPr sz="900" b="1" i="0">
                <a:solidFill>
                  <a:srgbClr val="282728"/>
                </a:solidFill>
                <a:latin typeface="Aptos"/>
              </a:rPr>
              <a:t>Rights filter + rank</a:t>
            </a:r>
          </a:p>
        </p:txBody>
      </p:sp>
      <p:sp>
        <p:nvSpPr>
          <p:cNvPr id="25" name="TextBox 24"/>
          <p:cNvSpPr txBox="1"/>
          <p:nvPr/>
        </p:nvSpPr>
        <p:spPr>
          <a:xfrm>
            <a:off x="7077455" y="3200400"/>
            <a:ext cx="1737360" cy="914400"/>
          </a:xfrm>
          <a:prstGeom prst="rect">
            <a:avLst/>
          </a:prstGeom>
          <a:noFill/>
        </p:spPr>
        <p:txBody>
          <a:bodyPr wrap="square">
            <a:spAutoFit/>
          </a:bodyPr>
          <a:lstStyle/>
          <a:p>
            <a:pPr algn="ctr"/>
            <a:r>
              <a:rPr sz="800" b="0" i="0">
                <a:solidFill>
                  <a:srgbClr val="53565A"/>
                </a:solidFill>
                <a:latin typeface="Aptos"/>
              </a:rPr>
              <a:t>Score × rights
flag → ordered
result list</a:t>
            </a:r>
          </a:p>
        </p:txBody>
      </p:sp>
      <p:sp>
        <p:nvSpPr>
          <p:cNvPr id="26" name="Rectangle 25"/>
          <p:cNvSpPr/>
          <p:nvPr/>
        </p:nvSpPr>
        <p:spPr>
          <a:xfrm>
            <a:off x="8942832" y="2990088"/>
            <a:ext cx="201168" cy="1463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62288" y="1920240"/>
            <a:ext cx="1920240" cy="22860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2288" y="1920240"/>
            <a:ext cx="1920240" cy="64008"/>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0948" y="2235708"/>
            <a:ext cx="502920" cy="502920"/>
          </a:xfrm>
          <a:prstGeom prst="ellipse">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ptos"/>
              </a:rPr>
              <a:t>5</a:t>
            </a:r>
          </a:p>
        </p:txBody>
      </p:sp>
      <p:sp>
        <p:nvSpPr>
          <p:cNvPr id="30" name="TextBox 29"/>
          <p:cNvSpPr txBox="1"/>
          <p:nvPr/>
        </p:nvSpPr>
        <p:spPr>
          <a:xfrm>
            <a:off x="9253728" y="2880360"/>
            <a:ext cx="1737360" cy="292608"/>
          </a:xfrm>
          <a:prstGeom prst="rect">
            <a:avLst/>
          </a:prstGeom>
          <a:noFill/>
        </p:spPr>
        <p:txBody>
          <a:bodyPr wrap="square">
            <a:spAutoFit/>
          </a:bodyPr>
          <a:lstStyle/>
          <a:p>
            <a:pPr algn="ctr"/>
            <a:r>
              <a:rPr sz="900" b="1" i="0">
                <a:solidFill>
                  <a:srgbClr val="282728"/>
                </a:solidFill>
                <a:latin typeface="Aptos"/>
              </a:rPr>
              <a:t>Author selects asset</a:t>
            </a:r>
          </a:p>
        </p:txBody>
      </p:sp>
      <p:sp>
        <p:nvSpPr>
          <p:cNvPr id="31" name="TextBox 30"/>
          <p:cNvSpPr txBox="1"/>
          <p:nvPr/>
        </p:nvSpPr>
        <p:spPr>
          <a:xfrm>
            <a:off x="9253728" y="3200400"/>
            <a:ext cx="1737360" cy="914400"/>
          </a:xfrm>
          <a:prstGeom prst="rect">
            <a:avLst/>
          </a:prstGeom>
          <a:noFill/>
        </p:spPr>
        <p:txBody>
          <a:bodyPr wrap="square">
            <a:spAutoFit/>
          </a:bodyPr>
          <a:lstStyle/>
          <a:p>
            <a:pPr algn="ctr"/>
            <a:r>
              <a:rPr sz="800" b="0" i="0">
                <a:solidFill>
                  <a:srgbClr val="53565A"/>
                </a:solidFill>
                <a:latin typeface="Aptos"/>
              </a:rPr>
              <a:t>Card shows tags,
channel fit,
rights badge</a:t>
            </a:r>
          </a:p>
        </p:txBody>
      </p:sp>
      <p:sp>
        <p:nvSpPr>
          <p:cNvPr id="32" name="Rectangle 31"/>
          <p:cNvSpPr/>
          <p:nvPr/>
        </p:nvSpPr>
        <p:spPr>
          <a:xfrm>
            <a:off x="457200" y="4663440"/>
            <a:ext cx="11274552" cy="731520"/>
          </a:xfrm>
          <a:prstGeom prst="rect">
            <a:avLst/>
          </a:prstGeom>
          <a:solidFill>
            <a:srgbClr val="EEF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63440"/>
            <a:ext cx="1127455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736592"/>
            <a:ext cx="10972800" cy="548640"/>
          </a:xfrm>
          <a:prstGeom prst="rect">
            <a:avLst/>
          </a:prstGeom>
          <a:noFill/>
        </p:spPr>
        <p:txBody>
          <a:bodyPr wrap="square">
            <a:spAutoFit/>
          </a:bodyPr>
          <a:lstStyle/>
          <a:p>
            <a:pPr algn="l"/>
            <a:r>
              <a:rPr sz="850" b="0" i="1">
                <a:solidFill>
                  <a:srgbClr val="53565A"/>
                </a:solidFill>
                <a:latin typeface="Aptos"/>
              </a:rPr>
              <a:t>Demo moment: the interface shows what search would have returned on raw metadata vs. enriched metadata — making the AI's value immediately visible.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AWS Bedrock and OpenAI power a lightweight, non-production MVP stack</a:t>
            </a:r>
          </a:p>
        </p:txBody>
      </p:sp>
      <p:sp>
        <p:nvSpPr>
          <p:cNvPr id="3" name="Rectangle 2"/>
          <p:cNvSpPr/>
          <p:nvPr/>
        </p:nvSpPr>
        <p:spPr>
          <a:xfrm>
            <a:off x="457200" y="1737360"/>
            <a:ext cx="11274552" cy="100584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737360"/>
            <a:ext cx="1127455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828800"/>
            <a:ext cx="1463040" cy="274320"/>
          </a:xfrm>
          <a:prstGeom prst="rect">
            <a:avLst/>
          </a:prstGeom>
          <a:noFill/>
        </p:spPr>
        <p:txBody>
          <a:bodyPr wrap="square">
            <a:spAutoFit/>
          </a:bodyPr>
          <a:lstStyle/>
          <a:p>
            <a:pPr algn="ctr"/>
            <a:r>
              <a:rPr sz="800" b="1" i="0">
                <a:solidFill>
                  <a:srgbClr val="282728"/>
                </a:solidFill>
                <a:latin typeface="Aptos"/>
              </a:rPr>
              <a:t>Data layer</a:t>
            </a:r>
          </a:p>
        </p:txBody>
      </p:sp>
      <p:sp>
        <p:nvSpPr>
          <p:cNvPr id="6" name="Rectangle 5"/>
          <p:cNvSpPr/>
          <p:nvPr/>
        </p:nvSpPr>
        <p:spPr>
          <a:xfrm>
            <a:off x="1737360" y="1920240"/>
            <a:ext cx="2377440" cy="731520"/>
          </a:xfrm>
          <a:prstGeom prst="rect">
            <a:avLst/>
          </a:prstGeom>
          <a:solidFill>
            <a:srgbClr val="FFFFFF"/>
          </a:solidFill>
          <a:ln w="12700">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Mock Web DAM</a:t>
            </a:r>
          </a:p>
        </p:txBody>
      </p:sp>
      <p:sp>
        <p:nvSpPr>
          <p:cNvPr id="7" name="Rectangle 6"/>
          <p:cNvSpPr/>
          <p:nvPr/>
        </p:nvSpPr>
        <p:spPr>
          <a:xfrm>
            <a:off x="4206240" y="1920240"/>
            <a:ext cx="2377440" cy="731520"/>
          </a:xfrm>
          <a:prstGeom prst="rect">
            <a:avLst/>
          </a:prstGeom>
          <a:solidFill>
            <a:srgbClr val="FFFFFF"/>
          </a:solidFill>
          <a:ln w="12700">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Asset metadata
(JCR/XML)</a:t>
            </a:r>
          </a:p>
        </p:txBody>
      </p:sp>
      <p:sp>
        <p:nvSpPr>
          <p:cNvPr id="8" name="Rectangle 7"/>
          <p:cNvSpPr/>
          <p:nvPr/>
        </p:nvSpPr>
        <p:spPr>
          <a:xfrm>
            <a:off x="6675120" y="1920240"/>
            <a:ext cx="2377440" cy="731520"/>
          </a:xfrm>
          <a:prstGeom prst="rect">
            <a:avLst/>
          </a:prstGeom>
          <a:solidFill>
            <a:srgbClr val="FFFFFF"/>
          </a:solidFill>
          <a:ln w="12700">
            <a:solidFill>
              <a:srgbClr val="0D83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Rights &amp; usage
constraints</a:t>
            </a:r>
          </a:p>
        </p:txBody>
      </p:sp>
      <p:sp>
        <p:nvSpPr>
          <p:cNvPr id="9" name="Rectangle 8"/>
          <p:cNvSpPr/>
          <p:nvPr/>
        </p:nvSpPr>
        <p:spPr>
          <a:xfrm>
            <a:off x="9144000" y="1920240"/>
            <a:ext cx="2377440" cy="731520"/>
          </a:xfrm>
          <a:prstGeom prst="rect">
            <a:avLst/>
          </a:prstGeom>
          <a:solidFill>
            <a:srgbClr val="FFFFFF"/>
          </a:solidFill>
          <a:ln w="12700">
            <a:solidFill>
              <a:srgbClr val="97999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Fragmented
sources</a:t>
            </a:r>
          </a:p>
        </p:txBody>
      </p:sp>
      <p:sp>
        <p:nvSpPr>
          <p:cNvPr id="10" name="Rectangle 9"/>
          <p:cNvSpPr/>
          <p:nvPr/>
        </p:nvSpPr>
        <p:spPr>
          <a:xfrm>
            <a:off x="457200" y="2880360"/>
            <a:ext cx="11274552" cy="1005840"/>
          </a:xfrm>
          <a:prstGeom prst="rect">
            <a:avLst/>
          </a:prstGeom>
          <a:solidFill>
            <a:srgbClr val="E4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880360"/>
            <a:ext cx="11274552"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971800"/>
            <a:ext cx="1463040" cy="274320"/>
          </a:xfrm>
          <a:prstGeom prst="rect">
            <a:avLst/>
          </a:prstGeom>
          <a:noFill/>
        </p:spPr>
        <p:txBody>
          <a:bodyPr wrap="square">
            <a:spAutoFit/>
          </a:bodyPr>
          <a:lstStyle/>
          <a:p>
            <a:pPr algn="ctr"/>
            <a:r>
              <a:rPr sz="800" b="1" i="0">
                <a:solidFill>
                  <a:srgbClr val="282728"/>
                </a:solidFill>
                <a:latin typeface="Aptos"/>
              </a:rPr>
              <a:t>AI layer</a:t>
            </a:r>
          </a:p>
        </p:txBody>
      </p:sp>
      <p:sp>
        <p:nvSpPr>
          <p:cNvPr id="13" name="Rectangle 12"/>
          <p:cNvSpPr/>
          <p:nvPr/>
        </p:nvSpPr>
        <p:spPr>
          <a:xfrm>
            <a:off x="1737360" y="3063240"/>
            <a:ext cx="2377440" cy="731520"/>
          </a:xfrm>
          <a:prstGeom prst="rect">
            <a:avLst/>
          </a:prstGeom>
          <a:solidFill>
            <a:srgbClr val="FFFFFF"/>
          </a:solidFill>
          <a:ln w="12700">
            <a:solidFill>
              <a:srgbClr val="0D83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Ingest &amp;
chunk</a:t>
            </a:r>
          </a:p>
        </p:txBody>
      </p:sp>
      <p:sp>
        <p:nvSpPr>
          <p:cNvPr id="14" name="Rectangle 13"/>
          <p:cNvSpPr/>
          <p:nvPr/>
        </p:nvSpPr>
        <p:spPr>
          <a:xfrm>
            <a:off x="4206240" y="3063240"/>
            <a:ext cx="2377440" cy="731520"/>
          </a:xfrm>
          <a:prstGeom prst="rect">
            <a:avLst/>
          </a:prstGeom>
          <a:solidFill>
            <a:srgbClr val="FFFFFF"/>
          </a:solidFill>
          <a:ln w="12700">
            <a:solidFill>
              <a:srgbClr val="0D83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GenAI enrichment
(gpt-4o-mini)</a:t>
            </a:r>
          </a:p>
        </p:txBody>
      </p:sp>
      <p:sp>
        <p:nvSpPr>
          <p:cNvPr id="15" name="Rectangle 14"/>
          <p:cNvSpPr/>
          <p:nvPr/>
        </p:nvSpPr>
        <p:spPr>
          <a:xfrm>
            <a:off x="6675120" y="3063240"/>
            <a:ext cx="2377440" cy="731520"/>
          </a:xfrm>
          <a:prstGeom prst="rect">
            <a:avLst/>
          </a:prstGeom>
          <a:solidFill>
            <a:srgbClr val="FFFFFF"/>
          </a:solidFill>
          <a:ln w="12700">
            <a:solidFill>
              <a:srgbClr val="26890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Embed + index
(text-emb-3-small)</a:t>
            </a:r>
          </a:p>
        </p:txBody>
      </p:sp>
      <p:sp>
        <p:nvSpPr>
          <p:cNvPr id="16" name="Rectangle 15"/>
          <p:cNvSpPr/>
          <p:nvPr/>
        </p:nvSpPr>
        <p:spPr>
          <a:xfrm>
            <a:off x="9144000" y="3063240"/>
            <a:ext cx="2377440" cy="731520"/>
          </a:xfrm>
          <a:prstGeom prst="rect">
            <a:avLst/>
          </a:prstGeom>
          <a:solidFill>
            <a:srgbClr val="FFFFFF"/>
          </a:solidFill>
          <a:ln w="12700">
            <a:solidFill>
              <a:srgbClr val="26890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LLM orchestration
(Bedrock / OpenAI)</a:t>
            </a:r>
          </a:p>
        </p:txBody>
      </p:sp>
      <p:sp>
        <p:nvSpPr>
          <p:cNvPr id="17" name="Rectangle 16"/>
          <p:cNvSpPr/>
          <p:nvPr/>
        </p:nvSpPr>
        <p:spPr>
          <a:xfrm>
            <a:off x="457200" y="4023360"/>
            <a:ext cx="11274552" cy="100584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023360"/>
            <a:ext cx="1127455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114800"/>
            <a:ext cx="1463040" cy="274320"/>
          </a:xfrm>
          <a:prstGeom prst="rect">
            <a:avLst/>
          </a:prstGeom>
          <a:noFill/>
        </p:spPr>
        <p:txBody>
          <a:bodyPr wrap="square">
            <a:spAutoFit/>
          </a:bodyPr>
          <a:lstStyle/>
          <a:p>
            <a:pPr algn="ctr"/>
            <a:r>
              <a:rPr sz="800" b="1" i="0">
                <a:solidFill>
                  <a:srgbClr val="282728"/>
                </a:solidFill>
                <a:latin typeface="Aptos"/>
              </a:rPr>
              <a:t>App + UI layer</a:t>
            </a:r>
          </a:p>
        </p:txBody>
      </p:sp>
      <p:sp>
        <p:nvSpPr>
          <p:cNvPr id="20" name="Rectangle 19"/>
          <p:cNvSpPr/>
          <p:nvPr/>
        </p:nvSpPr>
        <p:spPr>
          <a:xfrm>
            <a:off x="1737360" y="4206240"/>
            <a:ext cx="2377440" cy="731520"/>
          </a:xfrm>
          <a:prstGeom prst="rect">
            <a:avLst/>
          </a:prstGeom>
          <a:solidFill>
            <a:srgbClr val="FFFFFF"/>
          </a:solidFill>
          <a:ln w="12700">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Search API</a:t>
            </a:r>
          </a:p>
        </p:txBody>
      </p:sp>
      <p:sp>
        <p:nvSpPr>
          <p:cNvPr id="21" name="Rectangle 20"/>
          <p:cNvSpPr/>
          <p:nvPr/>
        </p:nvSpPr>
        <p:spPr>
          <a:xfrm>
            <a:off x="4206240" y="4206240"/>
            <a:ext cx="2377440" cy="731520"/>
          </a:xfrm>
          <a:prstGeom prst="rect">
            <a:avLst/>
          </a:prstGeom>
          <a:solidFill>
            <a:srgbClr val="FFFFFF"/>
          </a:solidFill>
          <a:ln w="12700">
            <a:solidFill>
              <a:srgbClr val="86BC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Rank + rights
filter</a:t>
            </a:r>
          </a:p>
        </p:txBody>
      </p:sp>
      <p:sp>
        <p:nvSpPr>
          <p:cNvPr id="22" name="Rectangle 21"/>
          <p:cNvSpPr/>
          <p:nvPr/>
        </p:nvSpPr>
        <p:spPr>
          <a:xfrm>
            <a:off x="6675120" y="4206240"/>
            <a:ext cx="2377440" cy="731520"/>
          </a:xfrm>
          <a:prstGeom prst="rect">
            <a:avLst/>
          </a:prstGeom>
          <a:solidFill>
            <a:srgbClr val="FFFFFF"/>
          </a:solidFill>
          <a:ln w="12700">
            <a:solidFill>
              <a:srgbClr val="0D83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Before/after
view</a:t>
            </a:r>
          </a:p>
        </p:txBody>
      </p:sp>
      <p:sp>
        <p:nvSpPr>
          <p:cNvPr id="23" name="Rectangle 22"/>
          <p:cNvSpPr/>
          <p:nvPr/>
        </p:nvSpPr>
        <p:spPr>
          <a:xfrm>
            <a:off x="9144000" y="4206240"/>
            <a:ext cx="2377440" cy="731520"/>
          </a:xfrm>
          <a:prstGeom prst="rect">
            <a:avLst/>
          </a:prstGeom>
          <a:solidFill>
            <a:srgbClr val="FFFFFF"/>
          </a:solidFill>
          <a:ln w="12700">
            <a:solidFill>
              <a:srgbClr val="0D83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0">
                <a:solidFill>
                  <a:srgbClr val="282728"/>
                </a:solidFill>
                <a:latin typeface="Aptos"/>
              </a:rPr>
              <a:t>Content author
UI (internal)</a:t>
            </a:r>
          </a:p>
        </p:txBody>
      </p:sp>
      <p:sp>
        <p:nvSpPr>
          <p:cNvPr id="24" name="TextBox 23"/>
          <p:cNvSpPr txBox="1"/>
          <p:nvPr/>
        </p:nvSpPr>
        <p:spPr>
          <a:xfrm>
            <a:off x="5943600" y="2734056"/>
            <a:ext cx="365760" cy="182880"/>
          </a:xfrm>
          <a:prstGeom prst="rect">
            <a:avLst/>
          </a:prstGeom>
          <a:noFill/>
        </p:spPr>
        <p:txBody>
          <a:bodyPr wrap="square">
            <a:spAutoFit/>
          </a:bodyPr>
          <a:lstStyle/>
          <a:p>
            <a:pPr algn="ctr"/>
            <a:r>
              <a:rPr sz="1000" b="1" i="0">
                <a:solidFill>
                  <a:srgbClr val="97999B"/>
                </a:solidFill>
                <a:latin typeface="Aptos"/>
              </a:rPr>
              <a:t>↓</a:t>
            </a:r>
          </a:p>
        </p:txBody>
      </p:sp>
      <p:sp>
        <p:nvSpPr>
          <p:cNvPr id="25" name="TextBox 24"/>
          <p:cNvSpPr txBox="1"/>
          <p:nvPr/>
        </p:nvSpPr>
        <p:spPr>
          <a:xfrm>
            <a:off x="5943600" y="3877056"/>
            <a:ext cx="365760" cy="182880"/>
          </a:xfrm>
          <a:prstGeom prst="rect">
            <a:avLst/>
          </a:prstGeom>
          <a:noFill/>
        </p:spPr>
        <p:txBody>
          <a:bodyPr wrap="square">
            <a:spAutoFit/>
          </a:bodyPr>
          <a:lstStyle/>
          <a:p>
            <a:pPr algn="ctr"/>
            <a:r>
              <a:rPr sz="1000" b="1" i="0">
                <a:solidFill>
                  <a:srgbClr val="97999B"/>
                </a:solidFill>
                <a:latin typeface="Aptos"/>
              </a:rPr>
              <a:t>↓</a:t>
            </a:r>
          </a:p>
        </p:txBody>
      </p:sp>
      <p:sp>
        <p:nvSpPr>
          <p:cNvPr id="26" name="Rectangle 25"/>
          <p:cNvSpPr/>
          <p:nvPr/>
        </p:nvSpPr>
        <p:spPr>
          <a:xfrm>
            <a:off x="457200" y="5166360"/>
            <a:ext cx="11274552" cy="68580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166360"/>
            <a:ext cx="1127455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239512"/>
            <a:ext cx="10972800" cy="502920"/>
          </a:xfrm>
          <a:prstGeom prst="rect">
            <a:avLst/>
          </a:prstGeom>
          <a:noFill/>
        </p:spPr>
        <p:txBody>
          <a:bodyPr wrap="square">
            <a:spAutoFit/>
          </a:bodyPr>
          <a:lstStyle/>
          <a:p>
            <a:pPr algn="ctr"/>
            <a:r>
              <a:rPr sz="850" b="0" i="0">
                <a:solidFill>
                  <a:srgbClr val="53565A"/>
                </a:solidFill>
                <a:latin typeface="Aptos"/>
              </a:rPr>
              <a:t>Vector DB: Chroma (local / AWS sandbox) · Embedding: text-embedding-3-small (1536-dim) · LLM enrichment: gpt-4o-mini · State: JSON file (pipeline_state.json)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Success is defined by answers to key questions, not a production-ready feature list</a:t>
            </a:r>
          </a:p>
        </p:txBody>
      </p:sp>
      <p:sp>
        <p:nvSpPr>
          <p:cNvPr id="3" name="Rectangle 2"/>
          <p:cNvSpPr/>
          <p:nvPr/>
        </p:nvSpPr>
        <p:spPr>
          <a:xfrm>
            <a:off x="457200" y="1828800"/>
            <a:ext cx="73152" cy="91440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874519"/>
            <a:ext cx="5212080" cy="274320"/>
          </a:xfrm>
          <a:prstGeom prst="rect">
            <a:avLst/>
          </a:prstGeom>
          <a:noFill/>
        </p:spPr>
        <p:txBody>
          <a:bodyPr wrap="square">
            <a:spAutoFit/>
          </a:bodyPr>
          <a:lstStyle/>
          <a:p>
            <a:pPr algn="l"/>
            <a:r>
              <a:rPr sz="1000" b="1" i="0">
                <a:solidFill>
                  <a:srgbClr val="282728"/>
                </a:solidFill>
                <a:latin typeface="Aptos"/>
              </a:rPr>
              <a:t>Search works</a:t>
            </a:r>
          </a:p>
        </p:txBody>
      </p:sp>
      <p:sp>
        <p:nvSpPr>
          <p:cNvPr id="5" name="TextBox 4"/>
          <p:cNvSpPr txBox="1"/>
          <p:nvPr/>
        </p:nvSpPr>
        <p:spPr>
          <a:xfrm>
            <a:off x="658368" y="2176272"/>
            <a:ext cx="5212080" cy="502920"/>
          </a:xfrm>
          <a:prstGeom prst="rect">
            <a:avLst/>
          </a:prstGeom>
          <a:noFill/>
        </p:spPr>
        <p:txBody>
          <a:bodyPr wrap="square">
            <a:spAutoFit/>
          </a:bodyPr>
          <a:lstStyle/>
          <a:p>
            <a:pPr algn="l"/>
            <a:r>
              <a:rPr sz="850" b="0" i="0">
                <a:solidFill>
                  <a:srgbClr val="53565A"/>
                </a:solidFill>
                <a:latin typeface="Aptos"/>
              </a:rPr>
              <a:t>Authors can find relevant assets using natural language — results are better than keyword search on raw metadata</a:t>
            </a:r>
          </a:p>
        </p:txBody>
      </p:sp>
      <p:sp>
        <p:nvSpPr>
          <p:cNvPr id="6" name="Rectangle 5"/>
          <p:cNvSpPr/>
          <p:nvPr/>
        </p:nvSpPr>
        <p:spPr>
          <a:xfrm>
            <a:off x="457200" y="2926080"/>
            <a:ext cx="73152" cy="91440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71800"/>
            <a:ext cx="5212080" cy="274320"/>
          </a:xfrm>
          <a:prstGeom prst="rect">
            <a:avLst/>
          </a:prstGeom>
          <a:noFill/>
        </p:spPr>
        <p:txBody>
          <a:bodyPr wrap="square">
            <a:spAutoFit/>
          </a:bodyPr>
          <a:lstStyle/>
          <a:p>
            <a:pPr algn="l"/>
            <a:r>
              <a:rPr sz="1000" b="1" i="0">
                <a:solidFill>
                  <a:srgbClr val="282728"/>
                </a:solidFill>
                <a:latin typeface="Aptos"/>
              </a:rPr>
              <a:t>Enrichment is visible</a:t>
            </a:r>
          </a:p>
        </p:txBody>
      </p:sp>
      <p:sp>
        <p:nvSpPr>
          <p:cNvPr id="8" name="TextBox 7"/>
          <p:cNvSpPr txBox="1"/>
          <p:nvPr/>
        </p:nvSpPr>
        <p:spPr>
          <a:xfrm>
            <a:off x="658368" y="3273552"/>
            <a:ext cx="5212080" cy="502920"/>
          </a:xfrm>
          <a:prstGeom prst="rect">
            <a:avLst/>
          </a:prstGeom>
          <a:noFill/>
        </p:spPr>
        <p:txBody>
          <a:bodyPr wrap="square">
            <a:spAutoFit/>
          </a:bodyPr>
          <a:lstStyle/>
          <a:p>
            <a:pPr algn="l"/>
            <a:r>
              <a:rPr sz="850" b="0" i="0">
                <a:solidFill>
                  <a:srgbClr val="53565A"/>
                </a:solidFill>
                <a:latin typeface="Aptos"/>
              </a:rPr>
              <a:t>Before/after comparison shows measurable improvement in tag completeness and description quality</a:t>
            </a:r>
          </a:p>
        </p:txBody>
      </p:sp>
      <p:sp>
        <p:nvSpPr>
          <p:cNvPr id="9" name="Rectangle 8"/>
          <p:cNvSpPr/>
          <p:nvPr/>
        </p:nvSpPr>
        <p:spPr>
          <a:xfrm>
            <a:off x="457200" y="4023360"/>
            <a:ext cx="73152" cy="91440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69080"/>
            <a:ext cx="5212080" cy="274320"/>
          </a:xfrm>
          <a:prstGeom prst="rect">
            <a:avLst/>
          </a:prstGeom>
          <a:noFill/>
        </p:spPr>
        <p:txBody>
          <a:bodyPr wrap="square">
            <a:spAutoFit/>
          </a:bodyPr>
          <a:lstStyle/>
          <a:p>
            <a:pPr algn="l"/>
            <a:r>
              <a:rPr sz="1000" b="1" i="0">
                <a:solidFill>
                  <a:srgbClr val="282728"/>
                </a:solidFill>
                <a:latin typeface="Aptos"/>
              </a:rPr>
              <a:t>Rights are surfaced</a:t>
            </a:r>
          </a:p>
        </p:txBody>
      </p:sp>
      <p:sp>
        <p:nvSpPr>
          <p:cNvPr id="11" name="TextBox 10"/>
          <p:cNvSpPr txBox="1"/>
          <p:nvPr/>
        </p:nvSpPr>
        <p:spPr>
          <a:xfrm>
            <a:off x="658368" y="4370832"/>
            <a:ext cx="5212080" cy="502920"/>
          </a:xfrm>
          <a:prstGeom prst="rect">
            <a:avLst/>
          </a:prstGeom>
          <a:noFill/>
        </p:spPr>
        <p:txBody>
          <a:bodyPr wrap="square">
            <a:spAutoFit/>
          </a:bodyPr>
          <a:lstStyle/>
          <a:p>
            <a:pPr algn="l"/>
            <a:r>
              <a:rPr sz="850" b="0" i="0">
                <a:solidFill>
                  <a:srgbClr val="53565A"/>
                </a:solidFill>
                <a:latin typeface="Aptos"/>
              </a:rPr>
              <a:t>Users see a clear, plain-English rights status on every result — even when the answer is 'unknown'</a:t>
            </a:r>
          </a:p>
        </p:txBody>
      </p:sp>
      <p:sp>
        <p:nvSpPr>
          <p:cNvPr id="12" name="Oval 11"/>
          <p:cNvSpPr/>
          <p:nvPr/>
        </p:nvSpPr>
        <p:spPr>
          <a:xfrm>
            <a:off x="6515100" y="1879092"/>
            <a:ext cx="411480" cy="411480"/>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1</a:t>
            </a:r>
          </a:p>
        </p:txBody>
      </p:sp>
      <p:sp>
        <p:nvSpPr>
          <p:cNvPr id="13" name="TextBox 12"/>
          <p:cNvSpPr txBox="1"/>
          <p:nvPr/>
        </p:nvSpPr>
        <p:spPr>
          <a:xfrm>
            <a:off x="7040880" y="1874519"/>
            <a:ext cx="4663440" cy="256032"/>
          </a:xfrm>
          <a:prstGeom prst="rect">
            <a:avLst/>
          </a:prstGeom>
          <a:noFill/>
        </p:spPr>
        <p:txBody>
          <a:bodyPr wrap="square">
            <a:spAutoFit/>
          </a:bodyPr>
          <a:lstStyle/>
          <a:p>
            <a:pPr algn="l"/>
            <a:r>
              <a:rPr sz="1000" b="1" i="0">
                <a:solidFill>
                  <a:srgbClr val="282728"/>
                </a:solidFill>
                <a:latin typeface="Aptos"/>
              </a:rPr>
              <a:t>This week</a:t>
            </a:r>
          </a:p>
        </p:txBody>
      </p:sp>
      <p:sp>
        <p:nvSpPr>
          <p:cNvPr id="14" name="TextBox 13"/>
          <p:cNvSpPr txBox="1"/>
          <p:nvPr/>
        </p:nvSpPr>
        <p:spPr>
          <a:xfrm>
            <a:off x="7040880" y="2148840"/>
            <a:ext cx="4663440" cy="548640"/>
          </a:xfrm>
          <a:prstGeom prst="rect">
            <a:avLst/>
          </a:prstGeom>
          <a:noFill/>
        </p:spPr>
        <p:txBody>
          <a:bodyPr wrap="square">
            <a:spAutoFit/>
          </a:bodyPr>
          <a:lstStyle/>
          <a:p>
            <a:pPr algn="l"/>
            <a:r>
              <a:rPr sz="850" b="0" i="0">
                <a:solidFill>
                  <a:srgbClr val="53565A"/>
                </a:solidFill>
                <a:latin typeface="Aptos"/>
              </a:rPr>
              <a:t>Run batch ingestion on mock DAM · validate enrichment quality · demo before/after in notebook</a:t>
            </a:r>
          </a:p>
        </p:txBody>
      </p:sp>
      <p:cxnSp>
        <p:nvCxnSpPr>
          <p:cNvPr id="15" name="Connector 14"/>
          <p:cNvCxnSpPr/>
          <p:nvPr/>
        </p:nvCxnSpPr>
        <p:spPr>
          <a:xfrm>
            <a:off x="6720840" y="2286000"/>
            <a:ext cx="18288" cy="566928"/>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515100" y="2976372"/>
            <a:ext cx="411480" cy="411480"/>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2</a:t>
            </a:r>
          </a:p>
        </p:txBody>
      </p:sp>
      <p:sp>
        <p:nvSpPr>
          <p:cNvPr id="17" name="TextBox 16"/>
          <p:cNvSpPr txBox="1"/>
          <p:nvPr/>
        </p:nvSpPr>
        <p:spPr>
          <a:xfrm>
            <a:off x="7040880" y="2971800"/>
            <a:ext cx="4663440" cy="256032"/>
          </a:xfrm>
          <a:prstGeom prst="rect">
            <a:avLst/>
          </a:prstGeom>
          <a:noFill/>
        </p:spPr>
        <p:txBody>
          <a:bodyPr wrap="square">
            <a:spAutoFit/>
          </a:bodyPr>
          <a:lstStyle/>
          <a:p>
            <a:pPr algn="l"/>
            <a:r>
              <a:rPr sz="1000" b="1" i="0">
                <a:solidFill>
                  <a:srgbClr val="282728"/>
                </a:solidFill>
                <a:latin typeface="Aptos"/>
              </a:rPr>
              <a:t>Next demo</a:t>
            </a:r>
          </a:p>
        </p:txBody>
      </p:sp>
      <p:sp>
        <p:nvSpPr>
          <p:cNvPr id="18" name="TextBox 17"/>
          <p:cNvSpPr txBox="1"/>
          <p:nvPr/>
        </p:nvSpPr>
        <p:spPr>
          <a:xfrm>
            <a:off x="7040880" y="3246120"/>
            <a:ext cx="4663440" cy="548640"/>
          </a:xfrm>
          <a:prstGeom prst="rect">
            <a:avLst/>
          </a:prstGeom>
          <a:noFill/>
        </p:spPr>
        <p:txBody>
          <a:bodyPr wrap="square">
            <a:spAutoFit/>
          </a:bodyPr>
          <a:lstStyle/>
          <a:p>
            <a:pPr algn="l"/>
            <a:r>
              <a:rPr sz="850" b="0" i="0">
                <a:solidFill>
                  <a:srgbClr val="53565A"/>
                </a:solidFill>
                <a:latin typeface="Aptos"/>
              </a:rPr>
              <a:t>End-to-end search UI · show enriched results vs. raw · pilot with 2 content author personas</a:t>
            </a:r>
          </a:p>
        </p:txBody>
      </p:sp>
      <p:cxnSp>
        <p:nvCxnSpPr>
          <p:cNvPr id="19" name="Connector 18"/>
          <p:cNvCxnSpPr/>
          <p:nvPr/>
        </p:nvCxnSpPr>
        <p:spPr>
          <a:xfrm>
            <a:off x="6720840" y="3383280"/>
            <a:ext cx="18288" cy="566928"/>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515100" y="4073652"/>
            <a:ext cx="411480" cy="411480"/>
          </a:xfrm>
          <a:prstGeom prst="ellipse">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3</a:t>
            </a:r>
          </a:p>
        </p:txBody>
      </p:sp>
      <p:sp>
        <p:nvSpPr>
          <p:cNvPr id="21" name="TextBox 20"/>
          <p:cNvSpPr txBox="1"/>
          <p:nvPr/>
        </p:nvSpPr>
        <p:spPr>
          <a:xfrm>
            <a:off x="7040880" y="4069080"/>
            <a:ext cx="4663440" cy="256032"/>
          </a:xfrm>
          <a:prstGeom prst="rect">
            <a:avLst/>
          </a:prstGeom>
          <a:noFill/>
        </p:spPr>
        <p:txBody>
          <a:bodyPr wrap="square">
            <a:spAutoFit/>
          </a:bodyPr>
          <a:lstStyle/>
          <a:p>
            <a:pPr algn="l"/>
            <a:r>
              <a:rPr sz="1000" b="1" i="0">
                <a:solidFill>
                  <a:srgbClr val="282728"/>
                </a:solidFill>
                <a:latin typeface="Aptos"/>
              </a:rPr>
              <a:t>Go/no-go</a:t>
            </a:r>
          </a:p>
        </p:txBody>
      </p:sp>
      <p:sp>
        <p:nvSpPr>
          <p:cNvPr id="22" name="TextBox 21"/>
          <p:cNvSpPr txBox="1"/>
          <p:nvPr/>
        </p:nvSpPr>
        <p:spPr>
          <a:xfrm>
            <a:off x="7040880" y="4343400"/>
            <a:ext cx="4663440" cy="548640"/>
          </a:xfrm>
          <a:prstGeom prst="rect">
            <a:avLst/>
          </a:prstGeom>
          <a:noFill/>
        </p:spPr>
        <p:txBody>
          <a:bodyPr wrap="square">
            <a:spAutoFit/>
          </a:bodyPr>
          <a:lstStyle/>
          <a:p>
            <a:pPr algn="l"/>
            <a:r>
              <a:rPr sz="850" b="0" i="0">
                <a:solidFill>
                  <a:srgbClr val="53565A"/>
                </a:solidFill>
                <a:latin typeface="Aptos"/>
              </a:rPr>
              <a:t>Qualitative feedback from pilot users · decision to invest in production hardening</a:t>
            </a:r>
          </a:p>
        </p:txBody>
      </p:sp>
      <p:sp>
        <p:nvSpPr>
          <p:cNvPr id="23" name="Rectangle 22"/>
          <p:cNvSpPr/>
          <p:nvPr/>
        </p:nvSpPr>
        <p:spPr>
          <a:xfrm>
            <a:off x="457200" y="5230368"/>
            <a:ext cx="11274552" cy="594360"/>
          </a:xfrm>
          <a:prstGeom prst="rect">
            <a:avLst/>
          </a:prstGeom>
          <a:solidFill>
            <a:srgbClr val="F1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230368"/>
            <a:ext cx="11274552" cy="54864"/>
          </a:xfrm>
          <a:prstGeom prst="rect">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303520"/>
            <a:ext cx="10972800" cy="475488"/>
          </a:xfrm>
          <a:prstGeom prst="rect">
            <a:avLst/>
          </a:prstGeom>
          <a:noFill/>
        </p:spPr>
        <p:txBody>
          <a:bodyPr wrap="square">
            <a:spAutoFit/>
          </a:bodyPr>
          <a:lstStyle/>
          <a:p>
            <a:pPr algn="l"/>
            <a:r>
              <a:rPr sz="850" b="0" i="1">
                <a:solidFill>
                  <a:srgbClr val="53565A"/>
                </a:solidFill>
                <a:latin typeface="Aptos"/>
              </a:rPr>
              <a:t>Scope: MVP feasibility prototype — not a DAM replacement, not production-hardened. Goal is confidence to invest in the right production build.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4" ma:contentTypeDescription="Create a new document." ma:contentTypeScope="" ma:versionID="4c6617896dbd6066d418e5883b6ed562">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beb73ffafaeb73ea273bd43962ac528"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9BBF235D-5BAD-4A08-AEE0-5E29BE15689F}">
  <ds:schemaRefs>
    <ds:schemaRef ds:uri="http://schemas.microsoft.com/office/2006/documentManagement/types"/>
    <ds:schemaRef ds:uri="8f1e2369-70da-40d7-b978-99d0855b91b8"/>
    <ds:schemaRef ds:uri="8ee28f6f-733e-446a-845c-015b8614e1f7"/>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0B2FCBC-AEA4-4167-AEBB-3951BFAB5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8233</Words>
  <Application>Microsoft Macintosh PowerPoint</Application>
  <PresentationFormat>Widescreen</PresentationFormat>
  <Paragraphs>941</Paragraphs>
  <Slides>66</Slides>
  <Notes>47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5" baseType="lpstr">
      <vt:lpstr>Aptos</vt:lpstr>
      <vt:lpstr>Arial</vt:lpstr>
      <vt:lpstr>Calibri</vt:lpstr>
      <vt:lpstr>Open Sans</vt:lpstr>
      <vt:lpstr>Verdana</vt:lpstr>
      <vt:lpstr>Wingdings</vt:lpstr>
      <vt:lpstr>Wingdings 2</vt:lpstr>
      <vt:lpstr>Deloitte_Brand_Theme</vt:lpstr>
      <vt:lpstr>think-cell Slide</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three lines</vt:lpstr>
      <vt:lpstr>Document  heading  three lines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two lines</vt:lpstr>
      <vt:lpstr>Document  heading two lines</vt:lpstr>
      <vt:lpstr>Brand basics</vt:lpstr>
      <vt:lpstr>Brand basics</vt:lpstr>
      <vt:lpstr>Brand basics</vt:lpstr>
      <vt:lpstr>Brand basics</vt:lpstr>
      <vt:lpstr>Brand basics</vt:lpstr>
      <vt:lpstr>Brand basics</vt:lpstr>
      <vt:lpstr>Page title</vt:lpstr>
      <vt:lpstr>PowerPoint Presentation</vt:lpstr>
      <vt:lpstr>PowerPoint Presentation</vt:lpstr>
      <vt:lpstr>Page title</vt:lpstr>
      <vt:lpstr>PowerPoint Presentation</vt:lpstr>
      <vt:lpstr>PowerPoint Presentation</vt:lpstr>
      <vt:lpstr>Divider slide text</vt:lpstr>
      <vt:lpstr>Divider slide text</vt:lpstr>
      <vt:lpstr>Divider slide text</vt:lpstr>
      <vt:lpstr>Divider slide text</vt:lpstr>
      <vt:lpstr>Divider slide text</vt:lpstr>
      <vt:lpstr>Divider slide text</vt:lpstr>
      <vt:lpstr>Divider slide text</vt:lpstr>
      <vt:lpstr>Divider slide text</vt:lpstr>
      <vt:lpstr>Key statement slide this text is not here to be read highlight key text in italics this text is not here to be read it is here to show how this document will look when filled with real text  </vt:lpstr>
      <vt:lpstr>Text and chart slide</vt:lpstr>
      <vt:lpstr>Text and chart slide</vt:lpstr>
      <vt:lpstr>Text and stacked bar chart </vt:lpstr>
      <vt:lpstr>Text and stacked bar chart </vt:lpstr>
      <vt:lpstr>Bar chart with infographics</vt:lpstr>
      <vt:lpstr>Horizontal stacked bar chart</vt:lpstr>
      <vt:lpstr>Tornado chart</vt:lpstr>
      <vt:lpstr>Line title</vt:lpstr>
      <vt:lpstr>Line title</vt:lpstr>
      <vt:lpstr>Scatter chart</vt:lpstr>
      <vt:lpstr>Page title</vt:lpstr>
      <vt:lpstr>Text boxes with arrows</vt:lpstr>
      <vt:lpstr>Three text boxes</vt:lpstr>
      <vt:lpstr>Icon use</vt:lpstr>
      <vt:lpstr>Slide with table</vt:lpstr>
      <vt:lpstr>Data table</vt:lpstr>
      <vt:lpstr>Flow table</vt:lpstr>
      <vt:lpstr>Project timeline</vt:lpstr>
      <vt:lpstr>Page title</vt:lpstr>
      <vt:lpstr>Team</vt:lpstr>
      <vt:lpstr>Curriculum vitae</vt:lpstr>
      <vt:lpstr>Organizational chart</vt:lpstr>
      <vt:lpstr>Proposed team structure and responsibilities</vt:lpstr>
      <vt:lpstr>Team structure chart</vt:lpstr>
      <vt:lpstr>Pyramid diagrams</vt:lpstr>
      <vt:lpstr>Quotation boxes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2</cp:revision>
  <dcterms:created xsi:type="dcterms:W3CDTF">2020-04-09T19:50:51Z</dcterms:created>
  <dcterms:modified xsi:type="dcterms:W3CDTF">2026-02-27T19:00:31Z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0x01010097C0B5E8C28FBB4DB6BB6E6547CA8A70</vt:lpwstr>
  </property>
</Properties>
</file>